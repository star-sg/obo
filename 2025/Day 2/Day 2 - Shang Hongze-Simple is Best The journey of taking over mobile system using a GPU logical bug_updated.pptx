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625" r:id="rId2"/>
    <p:sldId id="728" r:id="rId3"/>
    <p:sldId id="3178" r:id="rId4"/>
    <p:sldId id="3139" r:id="rId5"/>
    <p:sldId id="3180" r:id="rId6"/>
    <p:sldId id="3186" r:id="rId7"/>
    <p:sldId id="3179" r:id="rId8"/>
    <p:sldId id="3181" r:id="rId9"/>
    <p:sldId id="3182" r:id="rId10"/>
    <p:sldId id="3183" r:id="rId11"/>
    <p:sldId id="3184" r:id="rId12"/>
    <p:sldId id="3185" r:id="rId13"/>
    <p:sldId id="3187" r:id="rId14"/>
    <p:sldId id="3190" r:id="rId15"/>
    <p:sldId id="3191" r:id="rId16"/>
    <p:sldId id="3192" r:id="rId17"/>
    <p:sldId id="3193" r:id="rId18"/>
    <p:sldId id="3194" r:id="rId19"/>
    <p:sldId id="3196" r:id="rId20"/>
    <p:sldId id="3197" r:id="rId21"/>
    <p:sldId id="3200" r:id="rId22"/>
    <p:sldId id="3201" r:id="rId23"/>
    <p:sldId id="3202" r:id="rId24"/>
    <p:sldId id="3203" r:id="rId25"/>
    <p:sldId id="3204" r:id="rId26"/>
    <p:sldId id="3205" r:id="rId27"/>
    <p:sldId id="3206" r:id="rId28"/>
    <p:sldId id="3207" r:id="rId29"/>
    <p:sldId id="3208" r:id="rId30"/>
    <p:sldId id="3209" r:id="rId31"/>
    <p:sldId id="3189" r:id="rId32"/>
    <p:sldId id="3210" r:id="rId33"/>
    <p:sldId id="317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9"/>
    <p:restoredTop sz="94048"/>
  </p:normalViewPr>
  <p:slideViewPr>
    <p:cSldViewPr snapToGrid="0" snapToObjects="1">
      <p:cViewPr varScale="1">
        <p:scale>
          <a:sx n="138" d="100"/>
          <a:sy n="138" d="100"/>
        </p:scale>
        <p:origin x="10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FFFD6D-E10E-D14F-801F-F542A77819D9}" type="datetimeFigureOut">
              <a:rPr lang="en-US" smtClean="0"/>
              <a:t>5/9/25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FFE59-4209-2640-A901-167D75830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3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863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363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3473C-D48C-A8F5-E266-6782D706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3BCBAB-A5ED-BD3C-4CF2-8FE23257A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4EBF9-B1CB-615C-E30A-EE46B3CF2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09D644-0038-842A-5321-5D2C40609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57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990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224C8-E1EC-F6FD-7988-1B7E4D06A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6E4D1D-6EBA-35B4-3DB2-003D1B7DD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505B36-EB96-2C74-51D7-4848CA498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825DFD-C798-9059-3FDA-33B3595A6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97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EE14-845B-EB81-4027-EEB9BA8DF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CAEF35-6F99-00DB-BCA4-983DE7132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DD3AD9-EE0B-C4F8-9393-E34045D8F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434640-DDA9-C65D-4292-56A7EA2B9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352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EB6A2-938C-8329-EF49-4DC305636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19D5EE-E5F5-6417-40C0-F8ADC3193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CE01D2-C354-D2BE-5A3E-E728B40D3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91D68E-7351-6CB3-918C-07C103A986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167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63E44-088B-FEF3-45C2-5707ED6FF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23E91A-904C-7D3E-B3F4-7130C54C7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6146D6-ABAE-C800-58C6-C503637F7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BC5ABF-ACE4-02E4-C06F-F71558E1FD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665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07C0-7622-3FF1-1C13-C9F9A9E2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862CA5-42A5-87BD-3C2C-0E463020F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28F6A8-8768-7220-3F15-85257938A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035348-F44C-54F5-2DE7-4D8BC1AEB9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621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64B42-6549-7875-A589-75BDE523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FA17DF-6190-491C-808A-A4CD71095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BFC8EC-0803-5C32-2CA2-F6B03C5A3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8A4733-94CD-3E7C-C43D-9B3EBD923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160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9732-42E5-AFDF-F0B1-8513AB12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560524-41AA-1382-7EC5-3BC4B8549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F566EA-EDE3-7720-031B-7D8D6613C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340D13-E3B6-DBA1-37F8-2A15CDCCC3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753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1DF5-BACD-62D9-ED48-72CCAC93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3CC6CB-8E1A-7024-1535-127FA53CF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0129CF-90F1-43A2-FD16-E3B6CE5D4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0DDC8A-74A6-1B5C-B6F0-21F4B172AF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27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2A643-5AF9-2AA8-2125-57A6990D6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569D82-A870-7D15-E719-450BC6A5B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67C96D-7415-A8CF-A726-5A7F5EB00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DDFEC6-8B4F-FE99-002A-EB1B9B41F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099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E04AE-4411-18C3-33FF-9EF406474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392B52-2FDC-0A8F-117F-D8C111492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99446E-1287-29E2-468B-CF1AFC1D1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6CE3FA-A501-A1E6-EE6C-9B8EF3B83F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971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98CA4-D5E0-B449-5E05-9B2694F1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C43779-12EB-6AFA-AC79-7DF3F586C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EEAD54-778C-FC9C-E616-863C6C878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086FB-E45A-1E43-CD8D-8C3126B408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898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FD2E3-45C0-B74F-B751-6A8209B75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CBA35A-A741-0861-FFBC-24DF2F696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B3396C-507B-F1A7-EE0A-E6B852D66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12993F-B237-18B8-6386-F8458DC1F1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041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D39FB-79A9-E990-374E-1220989D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49577D-0847-9246-0A73-DBBFA444F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D22076-7B0E-ADAD-C547-E305B28BB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AD240A-561F-7C9C-8C92-285F7D55E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6482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91D25-2C12-B068-3B98-BA71ABC1D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579305-ACC1-032A-CE93-C3478C425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26D021-7963-8068-FBA6-FB507DFA1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4EDE47-9EF6-1E2C-AF0E-B810565A0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8060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F340D-EA94-0ABD-5306-FFE959EA4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5CE614-0CDE-D04B-045D-69F81E773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99903D-7B3E-1AAF-6EDE-454D5D440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8E434F-4E84-1C4B-C6C9-371063E88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666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6AD1-9E59-C261-F22D-DDE2165A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D633FF-1447-9317-76BE-A13D0DBF8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44DA5E-9242-8286-4ACB-33EB21734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58B3EF-BFC0-E4D1-6CBA-E4CED678E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0013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02A38-570A-ED34-EC31-5FB79AA6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5A2BE1-F25B-7BDC-4767-868DA1E1E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95DC6B-8698-11F6-559A-FE4C5F679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51AE13-6337-5BE7-B999-F74F2C4D9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5909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2312C-D0EA-FE40-6A4D-53084DF0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7A41A9-0B75-8A22-E1F8-8B9D7D39F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F6924F-148D-3CD1-B940-D8EEB4C95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B24AA8-9F57-C80B-59B0-A10192E30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612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6EA7B-9A97-4250-5566-84BF1CB0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0267F0-21EF-F7A3-5DAF-8C2F529AB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8BADC6-5BA4-D5E4-A402-16F773877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D476A5-8E4B-65FD-5727-E158A809FF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1455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9B0F8-237B-5AE4-7DAD-6BC614E16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800FE9-992A-3A8C-F14C-2E8FA923A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19C993-E32D-2285-2881-50DFD22EB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69DE05-8DE6-B28C-0C21-94A0B38893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9054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31269-F92A-8034-B039-D809547B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05F8C1-A04E-8373-F080-DB5E79172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99FDA8-73E5-51BA-21EC-0814E87F7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3D13BB-FE68-A56B-68B8-5EADA68F6B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2462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8B384-FB84-D394-E6FC-D93704946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3636E8-C54D-10F1-86A5-23CBB897B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E7F8F7-986F-67B6-E118-FFBBC1DB8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65CA4A-B489-E6EF-965C-B98D8BF74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7659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9A73D-83FD-EA70-CB32-71F349D0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77CB82-D0EB-CDD4-DCDE-75066BA70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6BF520-A033-7C3D-4859-86F1B9F11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AEACE9-2C5B-D23C-883C-AEDF5E862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5649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FC19-F78C-759B-9B18-E22CFE9A9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C0D208-E3F9-0123-58B0-85DC95A61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CFB853-5D8B-5CB5-9B3F-255664435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E225E-42DA-2B8E-711E-5291FED8E3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3666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781DB-143A-442E-CE79-A06068355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243648-C258-34DB-649D-B15AAA231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3CCE75-C1EF-F3AE-5FBD-8408C7F58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61A443-9658-97FB-784C-B79669B6A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1264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47B51-617E-AA76-BCE7-FB43768E2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732277-B826-5304-CE97-D4A0CB403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452F6C-0489-CC23-87A7-8818B616D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F27CC2-5A4E-AD95-1F23-C7B6568EA2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4201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809DB-4279-1D2B-E669-3F31F3EE2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85F92A-EB56-785C-0C47-1659BD030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F8DDCE-AA6F-3BFB-C363-7ED3FED92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26D7D2-CD7F-B0DF-8501-2CD262CA3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0869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4E0EC-0ACF-D002-E708-338B1CDE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F7773D-7222-5CDD-1AE5-CB19E6050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657BC5-AE53-E1D8-C3F1-D7A4EA54C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75AF15-93BE-F75D-2C68-508139DD4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3648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C3829-85C2-4C78-A748-3A4999477BD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81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D76E4-E983-FE41-AA23-A7F292F4E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F2E3C-CD9C-FA49-A984-077FC4147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36785-877F-6049-A1E9-9A43FACA3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F8544-D1B0-B94C-B8B5-03A61DC8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73F20-BA42-224A-A755-EE3A920F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7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3AF6C-DD2F-8C42-B163-F596607B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A3D17-D724-D34C-B129-391062738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D0EE1-75E9-2B4B-91CA-83E79CA8C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7698A-4270-1E48-9F07-EBFA1136F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E7363-E920-AF4D-A20F-1D976C5A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62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ECD2-C3FA-A446-A5D5-CE12B1D42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FB950-317D-0141-9904-AF01DB94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C1D5-1307-5C4F-8FFB-E3A5B14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84F2F-8A08-B34A-8DA6-F53E1E99A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8FEFE-EEA8-F34C-8029-81394BE60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74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F03C-D362-9F4A-A549-0BBB95FD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125C1-3DDD-4349-97EB-DA8996408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CF17E-E2A6-794C-81E9-4D119090D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B4A79-7FF5-CF4C-AEE8-774C4D65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45D16-C368-2344-89E2-04D294E0F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DBE5C-1AAA-984D-BFD4-7FCD03AE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5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E0F9-2437-6E40-BBAC-35613C63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A1B51-DE20-2540-B06F-6014905A3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A8CE9-62E6-C944-BF2D-66D83C844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FCB6B-8F37-F245-9267-E8CC92504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40294E-8208-294C-B693-774DADCA05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34C81B-706E-A741-B6D7-92EBC4D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300F0B-9D5F-724E-A174-12E4B72E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A384E8-B308-A549-9D79-08233A54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62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DC71-C3DE-B049-9981-B6495E8F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BD7B87-5404-174B-A628-DC4C7108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C3048-B90B-1240-A1A3-F874D7F0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69971-5217-5148-A769-FD3D4FFF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5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4DD270-94A5-D942-A8B7-6C4292B0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142EF-FC93-5048-AB40-CD0F4334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48417-4A67-EA4F-8F58-5106F698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55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2ED6A-060E-794B-8C06-2537DE943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EBE79-E2C4-6D41-9B77-7EB0BB089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32B69-0BCF-8E48-9E26-454E265F7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6D89A-BE3B-3947-A202-D8028068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0901A-6FA1-6C4C-A1C9-57007FE4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15B17-D6DF-7F49-BB45-BDC185110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6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7F6D-FF1B-C249-A773-8050E910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4D6C14-AD09-8245-812A-6F30F8D41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4F544-5525-B94A-8CD7-3BD070D29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CBDD0-390D-ED4A-A2A5-4763149AE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A4E96-1951-024A-AC03-7C313F1D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46383-3C4E-244A-8154-B6E0F12E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1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82920-7A7D-034A-BE71-72E3A154E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F0D09-9419-5C46-9FDA-C24B09F01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569BD-1590-6E47-88D3-B0979F43A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E38C8-B9E8-D14E-AC14-CEC1AFAF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AF1E9-C806-FB43-AC01-FFDEDA56E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6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ED025-2F2A-D440-B458-B549A17E7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81AEA-1907-AD4C-BF49-A4D3DD4A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C9491-D3D1-CE42-9900-26CC890A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E304-FDB4-534F-9B3E-CCF6B6DD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5931E-6276-DA44-8993-723321BD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37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" y="69"/>
            <a:ext cx="12191450" cy="6857933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914757" y="1142810"/>
            <a:ext cx="5639094" cy="853674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>
              <a:buFontTx/>
              <a:buNone/>
              <a:defRPr sz="4232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839" marR="0" lvl="0" indent="-407839" algn="l" defTabSz="10871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感谢您的时间。</a:t>
            </a:r>
          </a:p>
        </p:txBody>
      </p:sp>
      <p:sp>
        <p:nvSpPr>
          <p:cNvPr id="12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914757" y="1987052"/>
            <a:ext cx="5639094" cy="603678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marR="0" indent="0" algn="l" defTabSz="10871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 sz="2963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839" marR="0" lvl="0" indent="-407839" algn="l" defTabSz="10871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296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840" y="5867607"/>
            <a:ext cx="1703491" cy="52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47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33783" y="533156"/>
            <a:ext cx="6476553" cy="68546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3386" b="1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839" marR="0" lvl="0" indent="-407839" algn="l" defTabSz="10871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783" y="6216682"/>
            <a:ext cx="914337" cy="260577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1058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839" marR="0" lvl="0" indent="-407839" algn="l" defTabSz="10871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en-US" altLang="zh-CN" dirty="0"/>
              <a:t>Page_001</a:t>
            </a:r>
            <a:endParaRPr kumimoji="1" lang="zh-CN" altLang="en-US" dirty="0"/>
          </a:p>
        </p:txBody>
      </p:sp>
      <p:pic>
        <p:nvPicPr>
          <p:cNvPr id="5" name="Picture 4" descr="A cartoon of a beaver with a computer&#10;&#10;AI-generated content may be incorrect.">
            <a:extLst>
              <a:ext uri="{FF2B5EF4-FFF2-40B4-BE49-F238E27FC236}">
                <a16:creationId xmlns:a16="http://schemas.microsoft.com/office/drawing/2014/main" id="{97C04F03-9B5A-A449-5E76-A7BE8B1851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5891" y="5129323"/>
            <a:ext cx="1945930" cy="191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1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32A875-635D-3C4F-9DF4-61062E936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46014-96D8-1E4D-BF2F-594DF7F1D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82803-43A9-EF42-9E72-8B661C41B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59575-F36A-984B-803A-1825F50589BF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8D275-6643-0347-91F0-0BE00C0E8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572C0-AE5C-C048-81AB-E1E128D1E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D55FD-6233-844D-97A1-D2FF9C9D8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44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eg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umer.huawei.com/en/opensource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>
            <p:ph type="body" sz="quarter" idx="4294967295"/>
          </p:nvPr>
        </p:nvSpPr>
        <p:spPr>
          <a:xfrm>
            <a:off x="256605" y="898798"/>
            <a:ext cx="11083747" cy="1999721"/>
          </a:xfrm>
          <a:prstGeom prst="rect">
            <a:avLst/>
          </a:prstGeom>
        </p:spPr>
        <p:txBody>
          <a:bodyPr vert="horz" lIns="96757" tIns="48378" rIns="96757" bIns="48378" rtlCol="0">
            <a:normAutofit fontScale="97500"/>
          </a:bodyPr>
          <a:lstStyle/>
          <a:p>
            <a:pPr algn="l">
              <a:buNone/>
            </a:pPr>
            <a:r>
              <a:rPr lang="en-US" sz="3200" b="1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Simple is Best</a:t>
            </a:r>
          </a:p>
          <a:p>
            <a:pPr algn="l">
              <a:buNone/>
            </a:pPr>
            <a:r>
              <a:rPr lang="en-US" sz="3200" b="1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journey of taking over mobile system using a GPU logical bug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205089" y="4959341"/>
            <a:ext cx="2508207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05" dirty="0">
                <a:solidFill>
                  <a:schemeClr val="bg1"/>
                </a:solidFill>
                <a:latin typeface="Calibri" panose="020F0502020204030204" pitchFamily="34" charset="0"/>
                <a:ea typeface="微软雅黑" charset="0"/>
                <a:cs typeface="Calibri" panose="020F0502020204030204" pitchFamily="34" charset="0"/>
              </a:rPr>
              <a:t>Shang </a:t>
            </a:r>
            <a:r>
              <a:rPr lang="en-US" altLang="zh-CN" sz="1905" dirty="0" err="1">
                <a:solidFill>
                  <a:schemeClr val="bg1"/>
                </a:solidFill>
                <a:latin typeface="Calibri" panose="020F0502020204030204" pitchFamily="34" charset="0"/>
                <a:ea typeface="微软雅黑" charset="0"/>
                <a:cs typeface="Calibri" panose="020F0502020204030204" pitchFamily="34" charset="0"/>
              </a:rPr>
              <a:t>Hongze</a:t>
            </a:r>
            <a:endParaRPr lang="en-US" altLang="zh-CN" sz="1905" dirty="0">
              <a:solidFill>
                <a:schemeClr val="bg1"/>
              </a:solidFill>
              <a:latin typeface="Calibri" panose="020F0502020204030204" pitchFamily="34" charset="0"/>
              <a:ea typeface="微软雅黑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905" dirty="0">
                <a:solidFill>
                  <a:schemeClr val="bg1"/>
                </a:solidFill>
                <a:latin typeface="Calibri" panose="020F0502020204030204" pitchFamily="34" charset="0"/>
                <a:ea typeface="微软雅黑" charset="0"/>
                <a:cs typeface="Calibri" panose="020F0502020204030204" pitchFamily="34" charset="0"/>
              </a:rPr>
              <a:t>Dawn Security Lab</a:t>
            </a:r>
          </a:p>
        </p:txBody>
      </p:sp>
    </p:spTree>
    <p:extLst>
      <p:ext uri="{BB962C8B-B14F-4D97-AF65-F5344CB8AC3E}">
        <p14:creationId xmlns:p14="http://schemas.microsoft.com/office/powerpoint/2010/main" val="272425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27668" y="300746"/>
            <a:ext cx="2527854" cy="685359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rgbClr val="C915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 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BFFEA-96D7-5A2E-4904-3DD623680252}"/>
              </a:ext>
            </a:extLst>
          </p:cNvPr>
          <p:cNvSpPr txBox="1"/>
          <p:nvPr/>
        </p:nvSpPr>
        <p:spPr>
          <a:xfrm>
            <a:off x="932329" y="986105"/>
            <a:ext cx="5486759" cy="153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Shang Hongze</a:t>
            </a:r>
          </a:p>
          <a:p>
            <a:pPr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Security Researcher from Dawn Security Lab, 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JD.com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, Inc.</a:t>
            </a:r>
          </a:p>
          <a:p>
            <a:pPr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CTF Player, DEFCON CTF Winner 2020</a:t>
            </a:r>
          </a:p>
          <a:p>
            <a:pPr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Hunter on Android, IoT, Windows…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190106-55C8-1A94-C4B2-326CCA745CF3}"/>
              </a:ext>
            </a:extLst>
          </p:cNvPr>
          <p:cNvGrpSpPr/>
          <p:nvPr/>
        </p:nvGrpSpPr>
        <p:grpSpPr>
          <a:xfrm>
            <a:off x="1027407" y="2635838"/>
            <a:ext cx="2228790" cy="369332"/>
            <a:chOff x="785360" y="3382317"/>
            <a:chExt cx="2228790" cy="369332"/>
          </a:xfrm>
        </p:grpSpPr>
        <p:pic>
          <p:nvPicPr>
            <p:cNvPr id="5" name="Picture 4" descr="A black rectangular object with a cross&#10;&#10;AI-generated content may be incorrect.">
              <a:extLst>
                <a:ext uri="{FF2B5EF4-FFF2-40B4-BE49-F238E27FC236}">
                  <a16:creationId xmlns:a16="http://schemas.microsoft.com/office/drawing/2014/main" id="{625C2AE4-4E3D-3A31-3C7E-F785A199E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360" y="3429420"/>
              <a:ext cx="293938" cy="27512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E9AB80-E4E3-A9B7-E8DC-3E560CEE7AB0}"/>
                </a:ext>
              </a:extLst>
            </p:cNvPr>
            <p:cNvSpPr txBox="1"/>
            <p:nvPr/>
          </p:nvSpPr>
          <p:spPr>
            <a:xfrm>
              <a:off x="1079298" y="3382317"/>
              <a:ext cx="19348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sz="18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@hzshang15</a:t>
              </a:r>
              <a:endParaRPr lang="en-CN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17523CE-FC51-C79A-4538-6966D4ECCD74}"/>
              </a:ext>
            </a:extLst>
          </p:cNvPr>
          <p:cNvSpPr txBox="1"/>
          <p:nvPr/>
        </p:nvSpPr>
        <p:spPr>
          <a:xfrm>
            <a:off x="932329" y="4746792"/>
            <a:ext cx="5101525" cy="11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Mobile security research and defense, anti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AD fraud &amp; Bots</a:t>
            </a:r>
          </a:p>
          <a:p>
            <a:pPr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Pwnie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Award Best Privilege Escalation Award 2022</a:t>
            </a:r>
          </a:p>
          <a:p>
            <a:pPr>
              <a:lnSpc>
                <a:spcPct val="150000"/>
              </a:lnSpc>
            </a:pP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7" name="图片 2">
            <a:extLst>
              <a:ext uri="{FF2B5EF4-FFF2-40B4-BE49-F238E27FC236}">
                <a16:creationId xmlns:a16="http://schemas.microsoft.com/office/drawing/2014/main" id="{E86D2814-85A2-822B-38F1-B280C90BFE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09" t="12332" r="11607" b="19851"/>
          <a:stretch/>
        </p:blipFill>
        <p:spPr>
          <a:xfrm>
            <a:off x="932329" y="3852831"/>
            <a:ext cx="1734014" cy="783024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0E7B179-C1F1-6239-39F3-20741475CFB0}"/>
              </a:ext>
            </a:extLst>
          </p:cNvPr>
          <p:cNvGrpSpPr/>
          <p:nvPr/>
        </p:nvGrpSpPr>
        <p:grpSpPr>
          <a:xfrm>
            <a:off x="1027407" y="5718981"/>
            <a:ext cx="2228790" cy="369332"/>
            <a:chOff x="785360" y="3382317"/>
            <a:chExt cx="2228790" cy="369332"/>
          </a:xfrm>
        </p:grpSpPr>
        <p:pic>
          <p:nvPicPr>
            <p:cNvPr id="39" name="Picture 38" descr="A black rectangular object with a cross&#10;&#10;AI-generated content may be incorrect.">
              <a:extLst>
                <a:ext uri="{FF2B5EF4-FFF2-40B4-BE49-F238E27FC236}">
                  <a16:creationId xmlns:a16="http://schemas.microsoft.com/office/drawing/2014/main" id="{F2159B2E-13D3-3D30-8FA1-0BDA447A1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360" y="3429420"/>
              <a:ext cx="293938" cy="275126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0DE25CC-0EC4-327D-5312-1A9DFB1EA491}"/>
                </a:ext>
              </a:extLst>
            </p:cNvPr>
            <p:cNvSpPr txBox="1"/>
            <p:nvPr/>
          </p:nvSpPr>
          <p:spPr>
            <a:xfrm>
              <a:off x="1079298" y="3382317"/>
              <a:ext cx="19348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sz="18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@</a:t>
              </a:r>
              <a:r>
                <a:rPr kumimoji="1" lang="en-US" sz="1800" dirty="0" err="1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dawnseclab</a:t>
              </a:r>
              <a:endParaRPr lang="en-CN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127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B512D-FB65-00E2-15BF-78FE0650D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>
            <a:extLst>
              <a:ext uri="{FF2B5EF4-FFF2-40B4-BE49-F238E27FC236}">
                <a16:creationId xmlns:a16="http://schemas.microsoft.com/office/drawing/2014/main" id="{562FCF7A-9151-4338-794F-18C953DEF1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7322" y="311248"/>
            <a:ext cx="1691806" cy="685359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rgbClr val="C915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7DF13BA-A11C-A8EC-CD3D-DE131D60069B}"/>
              </a:ext>
            </a:extLst>
          </p:cNvPr>
          <p:cNvGrpSpPr/>
          <p:nvPr/>
        </p:nvGrpSpPr>
        <p:grpSpPr>
          <a:xfrm>
            <a:off x="2818931" y="1735988"/>
            <a:ext cx="6663951" cy="548292"/>
            <a:chOff x="2840472" y="1700269"/>
            <a:chExt cx="6663951" cy="548292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22C6D550-F5AE-CE35-EB91-E6D9F1581A68}"/>
                </a:ext>
              </a:extLst>
            </p:cNvPr>
            <p:cNvGrpSpPr/>
            <p:nvPr/>
          </p:nvGrpSpPr>
          <p:grpSpPr>
            <a:xfrm>
              <a:off x="2840472" y="1700269"/>
              <a:ext cx="946254" cy="548292"/>
              <a:chOff x="2215144" y="927951"/>
              <a:chExt cx="1244731" cy="949986"/>
            </a:xfrm>
          </p:grpSpPr>
          <p:sp>
            <p:nvSpPr>
              <p:cNvPr id="32" name="平行四边形 31">
                <a:extLst>
                  <a:ext uri="{FF2B5EF4-FFF2-40B4-BE49-F238E27FC236}">
                    <a16:creationId xmlns:a16="http://schemas.microsoft.com/office/drawing/2014/main" id="{9BB40F52-98B9-7A05-AC6E-3B574E3E9369}"/>
                  </a:ext>
                </a:extLst>
              </p:cNvPr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81" b="1">
                  <a:solidFill>
                    <a:srgbClr val="C91523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33" name="文本框 9">
                <a:extLst>
                  <a:ext uri="{FF2B5EF4-FFF2-40B4-BE49-F238E27FC236}">
                    <a16:creationId xmlns:a16="http://schemas.microsoft.com/office/drawing/2014/main" id="{57287A79-0708-3C48-6ACB-747F72F5C72D}"/>
                  </a:ext>
                </a:extLst>
              </p:cNvPr>
              <p:cNvSpPr txBox="1"/>
              <p:nvPr/>
            </p:nvSpPr>
            <p:spPr>
              <a:xfrm>
                <a:off x="2393076" y="927951"/>
                <a:ext cx="1066799" cy="949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963" b="1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01</a:t>
                </a:r>
                <a:endParaRPr lang="zh-CN" altLang="en-US" sz="2963" b="1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49727E74-9357-43B3-37BC-1996CC99913B}"/>
                </a:ext>
              </a:extLst>
            </p:cNvPr>
            <p:cNvGrpSpPr/>
            <p:nvPr/>
          </p:nvGrpSpPr>
          <p:grpSpPr>
            <a:xfrm>
              <a:off x="3581574" y="1731206"/>
              <a:ext cx="5922849" cy="486418"/>
              <a:chOff x="4315150" y="953426"/>
              <a:chExt cx="3893971" cy="540057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56CB451-F21D-5FB6-7E1E-084BE341A75A}"/>
                  </a:ext>
                </a:extLst>
              </p:cNvPr>
              <p:cNvSpPr/>
              <p:nvPr/>
            </p:nvSpPr>
            <p:spPr>
              <a:xfrm>
                <a:off x="4841196" y="1036091"/>
                <a:ext cx="2827147" cy="406842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72567" tIns="36284" rIns="72567" bIns="36284">
                <a:spAutoFit/>
              </a:bodyPr>
              <a:lstStyle/>
              <a:p>
                <a:endParaRPr lang="zh-CN" altLang="en-US" sz="1905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8" name="平行四边形 47">
                <a:extLst>
                  <a:ext uri="{FF2B5EF4-FFF2-40B4-BE49-F238E27FC236}">
                    <a16:creationId xmlns:a16="http://schemas.microsoft.com/office/drawing/2014/main" id="{C628E400-6409-716F-51C4-F606508291C5}"/>
                  </a:ext>
                </a:extLst>
              </p:cNvPr>
              <p:cNvSpPr/>
              <p:nvPr/>
            </p:nvSpPr>
            <p:spPr>
              <a:xfrm>
                <a:off x="4315150" y="953426"/>
                <a:ext cx="3893971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567" tIns="36284" rIns="72567" bIns="36284" rtlCol="0" anchor="ctr"/>
              <a:lstStyle/>
              <a:p>
                <a:endParaRPr lang="zh-CN" altLang="en-US" sz="1693" b="1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0234112-2B3F-6517-98B8-39EBB6356A67}"/>
                </a:ext>
              </a:extLst>
            </p:cNvPr>
            <p:cNvSpPr txBox="1"/>
            <p:nvPr/>
          </p:nvSpPr>
          <p:spPr>
            <a:xfrm>
              <a:off x="3950608" y="1765351"/>
              <a:ext cx="3723070" cy="423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kumimoji="1" lang="en-US" altLang="zh-CN" sz="16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The Background: why do we need the root</a:t>
              </a:r>
              <a:endPara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C0171A9-D2FE-8F57-A9BB-37C20D85B7C7}"/>
              </a:ext>
            </a:extLst>
          </p:cNvPr>
          <p:cNvGrpSpPr/>
          <p:nvPr/>
        </p:nvGrpSpPr>
        <p:grpSpPr>
          <a:xfrm>
            <a:off x="2818931" y="2614736"/>
            <a:ext cx="6663951" cy="548292"/>
            <a:chOff x="2840472" y="1700269"/>
            <a:chExt cx="6663951" cy="548292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A39C3F7-0674-4B56-28E0-147412B7E22E}"/>
                </a:ext>
              </a:extLst>
            </p:cNvPr>
            <p:cNvGrpSpPr/>
            <p:nvPr/>
          </p:nvGrpSpPr>
          <p:grpSpPr>
            <a:xfrm>
              <a:off x="2840472" y="1700269"/>
              <a:ext cx="946254" cy="548292"/>
              <a:chOff x="2215144" y="927951"/>
              <a:chExt cx="1244731" cy="949986"/>
            </a:xfrm>
          </p:grpSpPr>
          <p:sp>
            <p:nvSpPr>
              <p:cNvPr id="17" name="平行四边形 16">
                <a:extLst>
                  <a:ext uri="{FF2B5EF4-FFF2-40B4-BE49-F238E27FC236}">
                    <a16:creationId xmlns:a16="http://schemas.microsoft.com/office/drawing/2014/main" id="{EA14DFB0-6E53-99D7-4018-836989639EBC}"/>
                  </a:ext>
                </a:extLst>
              </p:cNvPr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81" b="1">
                  <a:solidFill>
                    <a:srgbClr val="C91523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8" name="文本框 9">
                <a:extLst>
                  <a:ext uri="{FF2B5EF4-FFF2-40B4-BE49-F238E27FC236}">
                    <a16:creationId xmlns:a16="http://schemas.microsoft.com/office/drawing/2014/main" id="{C628B5D0-E474-7017-A419-DE2C123B36C3}"/>
                  </a:ext>
                </a:extLst>
              </p:cNvPr>
              <p:cNvSpPr txBox="1"/>
              <p:nvPr/>
            </p:nvSpPr>
            <p:spPr>
              <a:xfrm>
                <a:off x="2393076" y="927951"/>
                <a:ext cx="1066799" cy="949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963" b="1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02</a:t>
                </a:r>
                <a:endParaRPr lang="zh-CN" altLang="en-US" sz="2963" b="1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1CBEE56-41E8-C407-88E6-AADBD5A69DA8}"/>
                </a:ext>
              </a:extLst>
            </p:cNvPr>
            <p:cNvGrpSpPr/>
            <p:nvPr/>
          </p:nvGrpSpPr>
          <p:grpSpPr>
            <a:xfrm>
              <a:off x="3581574" y="1731206"/>
              <a:ext cx="5922849" cy="486418"/>
              <a:chOff x="4315150" y="953426"/>
              <a:chExt cx="3893971" cy="540057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6165D66-F187-E5B0-A409-43A4FDC41DE3}"/>
                  </a:ext>
                </a:extLst>
              </p:cNvPr>
              <p:cNvSpPr/>
              <p:nvPr/>
            </p:nvSpPr>
            <p:spPr>
              <a:xfrm>
                <a:off x="4841196" y="1036091"/>
                <a:ext cx="2827147" cy="406842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72567" tIns="36284" rIns="72567" bIns="36284">
                <a:spAutoFit/>
              </a:bodyPr>
              <a:lstStyle/>
              <a:p>
                <a:endParaRPr lang="zh-CN" altLang="en-US" sz="1905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6" name="平行四边形 15">
                <a:extLst>
                  <a:ext uri="{FF2B5EF4-FFF2-40B4-BE49-F238E27FC236}">
                    <a16:creationId xmlns:a16="http://schemas.microsoft.com/office/drawing/2014/main" id="{517366DC-8929-B9FA-1C78-34171B31445B}"/>
                  </a:ext>
                </a:extLst>
              </p:cNvPr>
              <p:cNvSpPr/>
              <p:nvPr/>
            </p:nvSpPr>
            <p:spPr>
              <a:xfrm>
                <a:off x="4315150" y="953426"/>
                <a:ext cx="3893971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567" tIns="36284" rIns="72567" bIns="36284" rtlCol="0" anchor="ctr"/>
              <a:lstStyle/>
              <a:p>
                <a:endParaRPr lang="zh-CN" altLang="en-US" sz="1693" b="1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EF92C06-7168-BBD7-1A68-360E688DBAF9}"/>
                </a:ext>
              </a:extLst>
            </p:cNvPr>
            <p:cNvSpPr txBox="1"/>
            <p:nvPr/>
          </p:nvSpPr>
          <p:spPr>
            <a:xfrm>
              <a:off x="3950608" y="1765351"/>
              <a:ext cx="2564548" cy="423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kumimoji="1" lang="en-US" altLang="zh-CN" sz="16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Introduction of Android GPU</a:t>
              </a:r>
              <a:endPara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1678619-20D5-EE4C-ED45-7C13A009181A}"/>
              </a:ext>
            </a:extLst>
          </p:cNvPr>
          <p:cNvGrpSpPr/>
          <p:nvPr/>
        </p:nvGrpSpPr>
        <p:grpSpPr>
          <a:xfrm>
            <a:off x="2818931" y="3493484"/>
            <a:ext cx="6934668" cy="548292"/>
            <a:chOff x="2840472" y="1700269"/>
            <a:chExt cx="6934668" cy="548292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A92A3215-0F44-4E62-797C-BFE8557A6C81}"/>
                </a:ext>
              </a:extLst>
            </p:cNvPr>
            <p:cNvGrpSpPr/>
            <p:nvPr/>
          </p:nvGrpSpPr>
          <p:grpSpPr>
            <a:xfrm>
              <a:off x="2840472" y="1700269"/>
              <a:ext cx="946254" cy="548292"/>
              <a:chOff x="2215144" y="927951"/>
              <a:chExt cx="1244731" cy="949986"/>
            </a:xfrm>
          </p:grpSpPr>
          <p:sp>
            <p:nvSpPr>
              <p:cNvPr id="25" name="平行四边形 24">
                <a:extLst>
                  <a:ext uri="{FF2B5EF4-FFF2-40B4-BE49-F238E27FC236}">
                    <a16:creationId xmlns:a16="http://schemas.microsoft.com/office/drawing/2014/main" id="{5F398828-89A6-77EA-4E7C-4099589F2335}"/>
                  </a:ext>
                </a:extLst>
              </p:cNvPr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81" b="1">
                  <a:solidFill>
                    <a:srgbClr val="C91523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26" name="文本框 9">
                <a:extLst>
                  <a:ext uri="{FF2B5EF4-FFF2-40B4-BE49-F238E27FC236}">
                    <a16:creationId xmlns:a16="http://schemas.microsoft.com/office/drawing/2014/main" id="{452EC66F-1CB7-EA79-61E4-BE98E7574378}"/>
                  </a:ext>
                </a:extLst>
              </p:cNvPr>
              <p:cNvSpPr txBox="1"/>
              <p:nvPr/>
            </p:nvSpPr>
            <p:spPr>
              <a:xfrm>
                <a:off x="2393076" y="927951"/>
                <a:ext cx="1066799" cy="949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963" b="1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03</a:t>
                </a:r>
                <a:endParaRPr lang="zh-CN" altLang="en-US" sz="2963" b="1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0BB46619-1892-D036-964F-9C639CA0E977}"/>
                </a:ext>
              </a:extLst>
            </p:cNvPr>
            <p:cNvGrpSpPr/>
            <p:nvPr/>
          </p:nvGrpSpPr>
          <p:grpSpPr>
            <a:xfrm>
              <a:off x="3581574" y="1731206"/>
              <a:ext cx="5922849" cy="486418"/>
              <a:chOff x="4315150" y="953426"/>
              <a:chExt cx="3893971" cy="540057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947762A-8969-5D84-6AEC-2AB7FA42BA4C}"/>
                  </a:ext>
                </a:extLst>
              </p:cNvPr>
              <p:cNvSpPr/>
              <p:nvPr/>
            </p:nvSpPr>
            <p:spPr>
              <a:xfrm>
                <a:off x="4841196" y="1036091"/>
                <a:ext cx="2827147" cy="406842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72567" tIns="36284" rIns="72567" bIns="36284">
                <a:spAutoFit/>
              </a:bodyPr>
              <a:lstStyle/>
              <a:p>
                <a:endParaRPr lang="zh-CN" altLang="en-US" sz="1905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12489A32-B413-26F4-9BF3-23739E46C99B}"/>
                  </a:ext>
                </a:extLst>
              </p:cNvPr>
              <p:cNvSpPr/>
              <p:nvPr/>
            </p:nvSpPr>
            <p:spPr>
              <a:xfrm>
                <a:off x="4315150" y="953426"/>
                <a:ext cx="3893971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567" tIns="36284" rIns="72567" bIns="36284" rtlCol="0" anchor="ctr"/>
              <a:lstStyle/>
              <a:p>
                <a:endParaRPr lang="zh-CN" altLang="en-US" sz="1693" b="1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F4F1CA1-8ACC-7B19-385F-8465EB96FA6F}"/>
                </a:ext>
              </a:extLst>
            </p:cNvPr>
            <p:cNvSpPr txBox="1"/>
            <p:nvPr/>
          </p:nvSpPr>
          <p:spPr>
            <a:xfrm>
              <a:off x="3950607" y="1765351"/>
              <a:ext cx="5824533" cy="423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CN" sz="16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Bug</a:t>
              </a:r>
              <a:r>
                <a:rPr kumimoji="1" lang="zh-CN" altLang="en-US" sz="16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sz="16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hunting</a:t>
              </a:r>
              <a:r>
                <a:rPr kumimoji="1" lang="zh-CN" altLang="en-US" sz="16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sz="16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and exploitation of Huawei Kirin SoC</a:t>
              </a:r>
              <a:endPara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77E873F-4124-0A95-ADD6-831CC0DB99FE}"/>
              </a:ext>
            </a:extLst>
          </p:cNvPr>
          <p:cNvGrpSpPr/>
          <p:nvPr/>
        </p:nvGrpSpPr>
        <p:grpSpPr>
          <a:xfrm>
            <a:off x="2818931" y="4372231"/>
            <a:ext cx="6663951" cy="548292"/>
            <a:chOff x="2840472" y="1700269"/>
            <a:chExt cx="6663951" cy="548292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47A381D-22AC-4473-4545-3931D3D1C14C}"/>
                </a:ext>
              </a:extLst>
            </p:cNvPr>
            <p:cNvGrpSpPr/>
            <p:nvPr/>
          </p:nvGrpSpPr>
          <p:grpSpPr>
            <a:xfrm>
              <a:off x="2840472" y="1700269"/>
              <a:ext cx="946254" cy="548292"/>
              <a:chOff x="2215144" y="927951"/>
              <a:chExt cx="1244731" cy="949986"/>
            </a:xfrm>
          </p:grpSpPr>
          <p:sp>
            <p:nvSpPr>
              <p:cNvPr id="45" name="平行四边形 44">
                <a:extLst>
                  <a:ext uri="{FF2B5EF4-FFF2-40B4-BE49-F238E27FC236}">
                    <a16:creationId xmlns:a16="http://schemas.microsoft.com/office/drawing/2014/main" id="{D6274C25-7B71-1E36-8196-9E6D0929D4D6}"/>
                  </a:ext>
                </a:extLst>
              </p:cNvPr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81" b="1">
                  <a:solidFill>
                    <a:srgbClr val="C91523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58" name="文本框 9">
                <a:extLst>
                  <a:ext uri="{FF2B5EF4-FFF2-40B4-BE49-F238E27FC236}">
                    <a16:creationId xmlns:a16="http://schemas.microsoft.com/office/drawing/2014/main" id="{2F899DBC-9E04-B239-4F96-42188B392626}"/>
                  </a:ext>
                </a:extLst>
              </p:cNvPr>
              <p:cNvSpPr txBox="1"/>
              <p:nvPr/>
            </p:nvSpPr>
            <p:spPr>
              <a:xfrm>
                <a:off x="2393076" y="927951"/>
                <a:ext cx="1066799" cy="949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963" b="1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04</a:t>
                </a:r>
                <a:endParaRPr lang="zh-CN" altLang="en-US" sz="2963" b="1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609463E4-F782-E35F-5D86-B7F5D4AA8517}"/>
                </a:ext>
              </a:extLst>
            </p:cNvPr>
            <p:cNvGrpSpPr/>
            <p:nvPr/>
          </p:nvGrpSpPr>
          <p:grpSpPr>
            <a:xfrm>
              <a:off x="3581574" y="1731206"/>
              <a:ext cx="5922849" cy="486418"/>
              <a:chOff x="4315150" y="953426"/>
              <a:chExt cx="3893971" cy="540057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50C3D1EC-51BF-BC43-C963-BA795B93B1E1}"/>
                  </a:ext>
                </a:extLst>
              </p:cNvPr>
              <p:cNvSpPr/>
              <p:nvPr/>
            </p:nvSpPr>
            <p:spPr>
              <a:xfrm>
                <a:off x="4841196" y="1036091"/>
                <a:ext cx="2827147" cy="406842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72567" tIns="36284" rIns="72567" bIns="36284">
                <a:spAutoFit/>
              </a:bodyPr>
              <a:lstStyle/>
              <a:p>
                <a:endParaRPr lang="zh-CN" altLang="en-US" sz="1905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4" name="平行四边形 43">
                <a:extLst>
                  <a:ext uri="{FF2B5EF4-FFF2-40B4-BE49-F238E27FC236}">
                    <a16:creationId xmlns:a16="http://schemas.microsoft.com/office/drawing/2014/main" id="{41071184-3CC9-C3A3-7C97-914DACAB0AED}"/>
                  </a:ext>
                </a:extLst>
              </p:cNvPr>
              <p:cNvSpPr/>
              <p:nvPr/>
            </p:nvSpPr>
            <p:spPr>
              <a:xfrm>
                <a:off x="4315150" y="953426"/>
                <a:ext cx="3893971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567" tIns="36284" rIns="72567" bIns="36284" rtlCol="0" anchor="ctr"/>
              <a:lstStyle/>
              <a:p>
                <a:endParaRPr lang="zh-CN" altLang="en-US" sz="1693" b="1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34A3FB3-5AAC-A355-CC37-ED87494B2203}"/>
                </a:ext>
              </a:extLst>
            </p:cNvPr>
            <p:cNvSpPr txBox="1"/>
            <p:nvPr/>
          </p:nvSpPr>
          <p:spPr>
            <a:xfrm>
              <a:off x="3950608" y="1765351"/>
              <a:ext cx="1212961" cy="423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kumimoji="1" lang="en-US" altLang="zh-CN" sz="16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DEMO show</a:t>
              </a:r>
              <a:endPara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8180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F9077B1-9EF3-D742-87F6-B6476D7087FB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542BF8E2-03E3-0FDB-EB49-04C9DCE1A6E6}"/>
              </a:ext>
            </a:extLst>
          </p:cNvPr>
          <p:cNvSpPr txBox="1">
            <a:spLocks/>
          </p:cNvSpPr>
          <p:nvPr/>
        </p:nvSpPr>
        <p:spPr>
          <a:xfrm>
            <a:off x="54569" y="335018"/>
            <a:ext cx="5789639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Why do we need the root?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C2E2D-A7FD-619D-9922-4A655079C7CF}"/>
              </a:ext>
            </a:extLst>
          </p:cNvPr>
          <p:cNvSpPr txBox="1"/>
          <p:nvPr/>
        </p:nvSpPr>
        <p:spPr>
          <a:xfrm>
            <a:off x="570756" y="1232452"/>
            <a:ext cx="4399281" cy="11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It’s pretty COOL!</a:t>
            </a: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 and get a big bounty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Control everything, debuging, developing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See everything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…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4BAE6-6DCF-152D-EF25-7279CF1FFBEB}"/>
              </a:ext>
            </a:extLst>
          </p:cNvPr>
          <p:cNvSpPr txBox="1"/>
          <p:nvPr/>
        </p:nvSpPr>
        <p:spPr>
          <a:xfrm>
            <a:off x="570756" y="2654057"/>
            <a:ext cx="1919372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Anti Mobile Ad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fraud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ED940E-0CD2-15EB-4140-56536220201C}"/>
              </a:ext>
            </a:extLst>
          </p:cNvPr>
          <p:cNvSpPr txBox="1"/>
          <p:nvPr/>
        </p:nvSpPr>
        <p:spPr>
          <a:xfrm>
            <a:off x="570756" y="3230217"/>
            <a:ext cx="2061398" cy="1531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Traffic hijacking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raffic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misdirection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Robot clicks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…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666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CAD31-2A46-2D45-5025-1EC4B480A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10A86F3-FBCD-7476-5804-934F159BD467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4B294D66-000B-94B1-9337-DB90F128CDAC}"/>
              </a:ext>
            </a:extLst>
          </p:cNvPr>
          <p:cNvSpPr txBox="1">
            <a:spLocks/>
          </p:cNvSpPr>
          <p:nvPr/>
        </p:nvSpPr>
        <p:spPr>
          <a:xfrm>
            <a:off x="54569" y="335018"/>
            <a:ext cx="5789639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Why do we need the root?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7EE2C5-0D13-F128-6728-1BA34CD94EB7}"/>
              </a:ext>
            </a:extLst>
          </p:cNvPr>
          <p:cNvSpPr txBox="1"/>
          <p:nvPr/>
        </p:nvSpPr>
        <p:spPr>
          <a:xfrm>
            <a:off x="1659836" y="6273456"/>
            <a:ext cx="1866217" cy="418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traffic hijack case</a:t>
            </a:r>
            <a:endParaRPr kumimoji="1" lang="en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267F8-AB26-9A78-0761-6A409226DD25}"/>
              </a:ext>
            </a:extLst>
          </p:cNvPr>
          <p:cNvSpPr txBox="1"/>
          <p:nvPr/>
        </p:nvSpPr>
        <p:spPr>
          <a:xfrm>
            <a:off x="4212266" y="1239498"/>
            <a:ext cx="473897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2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When we have root:</a:t>
            </a:r>
          </a:p>
        </p:txBody>
      </p:sp>
      <p:pic>
        <p:nvPicPr>
          <p:cNvPr id="5" name="input_method_hijack">
            <a:hlinkClick r:id="" action="ppaction://media"/>
            <a:extLst>
              <a:ext uri="{FF2B5EF4-FFF2-40B4-BE49-F238E27FC236}">
                <a16:creationId xmlns:a16="http://schemas.microsoft.com/office/drawing/2014/main" id="{9CEF4258-4356-437D-345F-97076BBF54A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76662" y="1227615"/>
            <a:ext cx="2247718" cy="49949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96F1A9-C649-1A71-1091-C582628F4A86}"/>
              </a:ext>
            </a:extLst>
          </p:cNvPr>
          <p:cNvSpPr txBox="1"/>
          <p:nvPr/>
        </p:nvSpPr>
        <p:spPr>
          <a:xfrm>
            <a:off x="4489704" y="1999378"/>
            <a:ext cx="7973568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Breakthrough the sandbox protection</a:t>
            </a:r>
          </a:p>
          <a:p>
            <a:pPr algn="l">
              <a:lnSpc>
                <a:spcPct val="150000"/>
              </a:lnSpc>
            </a:pPr>
            <a:r>
              <a:rPr kumimoji="1" 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Locate evidence of cheating in malicious apps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CN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and ROMs from test device</a:t>
            </a:r>
          </a:p>
          <a:p>
            <a:pPr>
              <a:lnSpc>
                <a:spcPct val="150000"/>
              </a:lnSpc>
            </a:pPr>
            <a:r>
              <a:rPr kumimoji="1" lang="en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access the app local files, In-Memory config…</a:t>
            </a:r>
          </a:p>
        </p:txBody>
      </p:sp>
    </p:spTree>
    <p:extLst>
      <p:ext uri="{BB962C8B-B14F-4D97-AF65-F5344CB8AC3E}">
        <p14:creationId xmlns:p14="http://schemas.microsoft.com/office/powerpoint/2010/main" val="172863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F1DC9-C12D-8F2B-CCE7-4BF2D190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10E05D7-4103-AED6-B580-789E3F591CC8}"/>
              </a:ext>
            </a:extLst>
          </p:cNvPr>
          <p:cNvSpPr txBox="1"/>
          <p:nvPr/>
        </p:nvSpPr>
        <p:spPr>
          <a:xfrm>
            <a:off x="4073809" y="2766511"/>
            <a:ext cx="4877810" cy="669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02</a:t>
            </a:r>
            <a:r>
              <a:rPr kumimoji="1" lang="zh-CN" altLang="en-US" sz="2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8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Introduction of Android GPU</a:t>
            </a:r>
          </a:p>
        </p:txBody>
      </p:sp>
    </p:spTree>
    <p:extLst>
      <p:ext uri="{BB962C8B-B14F-4D97-AF65-F5344CB8AC3E}">
        <p14:creationId xmlns:p14="http://schemas.microsoft.com/office/powerpoint/2010/main" val="3355101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424E5-1272-D6F0-2D64-99CC24C5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140EE840-C1EF-3911-424F-4473680C1D4E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F8E1C719-F35D-9026-8724-B6E611FA69D6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45651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Introduction of Android GPU</a:t>
            </a:r>
          </a:p>
        </p:txBody>
      </p:sp>
      <p:pic>
        <p:nvPicPr>
          <p:cNvPr id="3" name="图片 3">
            <a:extLst>
              <a:ext uri="{FF2B5EF4-FFF2-40B4-BE49-F238E27FC236}">
                <a16:creationId xmlns:a16="http://schemas.microsoft.com/office/drawing/2014/main" id="{023E126C-8BCF-BE95-08BB-F35B26FDA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89" y="1122477"/>
            <a:ext cx="4976605" cy="48339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4E879F-0C6D-3162-6614-41AF36C510D6}"/>
              </a:ext>
            </a:extLst>
          </p:cNvPr>
          <p:cNvSpPr txBox="1"/>
          <p:nvPr/>
        </p:nvSpPr>
        <p:spPr>
          <a:xfrm>
            <a:off x="1383527" y="5956414"/>
            <a:ext cx="3838936" cy="422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 </a:t>
            </a:r>
            <a:r>
              <a:rPr kumimoji="1"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lang="en-CN" sz="1600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≈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Framework + Linux + HAL</a:t>
            </a:r>
            <a:endParaRPr kumimoji="1" lang="en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506A46-CCC9-7443-BE62-05ABDABFB38D}"/>
              </a:ext>
            </a:extLst>
          </p:cNvPr>
          <p:cNvSpPr txBox="1"/>
          <p:nvPr/>
        </p:nvSpPr>
        <p:spPr>
          <a:xfrm>
            <a:off x="5608678" y="1550504"/>
            <a:ext cx="2046842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Android Framework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297F8B-01A7-A60B-D2FD-B93D6372971A}"/>
              </a:ext>
            </a:extLst>
          </p:cNvPr>
          <p:cNvSpPr txBox="1"/>
          <p:nvPr/>
        </p:nvSpPr>
        <p:spPr>
          <a:xfrm>
            <a:off x="5828307" y="2133368"/>
            <a:ext cx="5216056" cy="423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APP Level Runtime provider, permission control…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851BF9-7A70-FB2C-1823-D11DA84E889B}"/>
              </a:ext>
            </a:extLst>
          </p:cNvPr>
          <p:cNvSpPr txBox="1"/>
          <p:nvPr/>
        </p:nvSpPr>
        <p:spPr>
          <a:xfrm>
            <a:off x="5608678" y="2839940"/>
            <a:ext cx="678391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Linux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83A31A-9AE6-5392-F2E2-928C97EEED30}"/>
              </a:ext>
            </a:extLst>
          </p:cNvPr>
          <p:cNvSpPr txBox="1"/>
          <p:nvPr/>
        </p:nvSpPr>
        <p:spPr>
          <a:xfrm>
            <a:off x="5828307" y="3422804"/>
            <a:ext cx="2797882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Process Level Runtime provider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51A6CB-220F-100B-7724-DAB7AF5BBEEA}"/>
              </a:ext>
            </a:extLst>
          </p:cNvPr>
          <p:cNvSpPr txBox="1"/>
          <p:nvPr/>
        </p:nvSpPr>
        <p:spPr>
          <a:xfrm>
            <a:off x="5608678" y="4129376"/>
            <a:ext cx="559769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HAL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AC497C-608F-E280-1809-B8CCC2E426DD}"/>
              </a:ext>
            </a:extLst>
          </p:cNvPr>
          <p:cNvSpPr txBox="1"/>
          <p:nvPr/>
        </p:nvSpPr>
        <p:spPr>
          <a:xfrm>
            <a:off x="5828307" y="4547504"/>
            <a:ext cx="2436051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Hardware abstraction layer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540253-0771-45BB-EFDE-42D92A4B0867}"/>
              </a:ext>
            </a:extLst>
          </p:cNvPr>
          <p:cNvSpPr txBox="1"/>
          <p:nvPr/>
        </p:nvSpPr>
        <p:spPr>
          <a:xfrm>
            <a:off x="5828307" y="4916800"/>
            <a:ext cx="3765839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unified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interface for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different hardware 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01212D-4425-D6FD-414F-68276FC9CAA3}"/>
              </a:ext>
            </a:extLst>
          </p:cNvPr>
          <p:cNvSpPr txBox="1"/>
          <p:nvPr/>
        </p:nvSpPr>
        <p:spPr>
          <a:xfrm>
            <a:off x="5828306" y="5307496"/>
            <a:ext cx="6150333" cy="423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Shared User Library + </a:t>
            </a:r>
            <a:r>
              <a:rPr kumimoji="1" lang="en-CN" sz="1600" dirty="0">
                <a:solidFill>
                  <a:srgbClr val="FF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Kernel Module (a.k.a KMD)</a:t>
            </a:r>
          </a:p>
        </p:txBody>
      </p:sp>
    </p:spTree>
    <p:extLst>
      <p:ext uri="{BB962C8B-B14F-4D97-AF65-F5344CB8AC3E}">
        <p14:creationId xmlns:p14="http://schemas.microsoft.com/office/powerpoint/2010/main" val="2527152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D9A23-C086-B00D-1D1E-21D90398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AE605299-85CE-A8B1-8AE8-5AA606DF1BF5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7FF06693-5F1A-5C0A-19FA-9ACF64FC9D70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45651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Introduction of Android GPU</a:t>
            </a:r>
          </a:p>
        </p:txBody>
      </p:sp>
      <p:pic>
        <p:nvPicPr>
          <p:cNvPr id="14" name="Picture 2" descr="手机京东- 京东">
            <a:extLst>
              <a:ext uri="{FF2B5EF4-FFF2-40B4-BE49-F238E27FC236}">
                <a16:creationId xmlns:a16="http://schemas.microsoft.com/office/drawing/2014/main" id="{91AFE2F1-3B7D-0869-726D-242B351FD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715" y="2564020"/>
            <a:ext cx="585394" cy="62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Premium Vector | Modern flat design of DLL file icon for web">
            <a:extLst>
              <a:ext uri="{FF2B5EF4-FFF2-40B4-BE49-F238E27FC236}">
                <a16:creationId xmlns:a16="http://schemas.microsoft.com/office/drawing/2014/main" id="{D7605F53-E3FD-648B-5D53-0D47FBCD1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420" y="2544159"/>
            <a:ext cx="725940" cy="72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右箭头 19">
            <a:extLst>
              <a:ext uri="{FF2B5EF4-FFF2-40B4-BE49-F238E27FC236}">
                <a16:creationId xmlns:a16="http://schemas.microsoft.com/office/drawing/2014/main" id="{8200424C-BEDF-E61A-C8D6-12C2794D7873}"/>
              </a:ext>
            </a:extLst>
          </p:cNvPr>
          <p:cNvSpPr/>
          <p:nvPr/>
        </p:nvSpPr>
        <p:spPr>
          <a:xfrm>
            <a:off x="2111090" y="2690972"/>
            <a:ext cx="1096239" cy="478824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Dynamic Link</a:t>
            </a:r>
            <a:endParaRPr kumimoji="1" lang="zh-CN" altLang="en-US" sz="1000" dirty="0"/>
          </a:p>
        </p:txBody>
      </p:sp>
      <p:sp>
        <p:nvSpPr>
          <p:cNvPr id="26" name="右箭头 21">
            <a:extLst>
              <a:ext uri="{FF2B5EF4-FFF2-40B4-BE49-F238E27FC236}">
                <a16:creationId xmlns:a16="http://schemas.microsoft.com/office/drawing/2014/main" id="{C823C1DB-A51E-4BC5-44D8-4EB2E266CC1B}"/>
              </a:ext>
            </a:extLst>
          </p:cNvPr>
          <p:cNvSpPr/>
          <p:nvPr/>
        </p:nvSpPr>
        <p:spPr>
          <a:xfrm>
            <a:off x="5133654" y="2668925"/>
            <a:ext cx="1548787" cy="478824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 err="1"/>
              <a:t>ioctl</a:t>
            </a:r>
            <a:r>
              <a:rPr kumimoji="1" lang="en-US" altLang="zh-CN" sz="1000" dirty="0"/>
              <a:t> / </a:t>
            </a:r>
            <a:r>
              <a:rPr kumimoji="1" lang="en-US" altLang="zh-CN" sz="1000" dirty="0" err="1"/>
              <a:t>mmap</a:t>
            </a:r>
            <a:endParaRPr kumimoji="1" lang="zh-CN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A1ED78-90C1-0DA8-CA1C-1185FBF87017}"/>
              </a:ext>
            </a:extLst>
          </p:cNvPr>
          <p:cNvSpPr txBox="1"/>
          <p:nvPr/>
        </p:nvSpPr>
        <p:spPr>
          <a:xfrm>
            <a:off x="615611" y="1391754"/>
            <a:ext cx="2826543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Normal GPU rendering</a:t>
            </a: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example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3AA4D4-C88D-F406-71D7-C13E49B9AE6F}"/>
              </a:ext>
            </a:extLst>
          </p:cNvPr>
          <p:cNvSpPr txBox="1"/>
          <p:nvPr/>
        </p:nvSpPr>
        <p:spPr>
          <a:xfrm>
            <a:off x="2591527" y="3557920"/>
            <a:ext cx="3506523" cy="19978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Lookup the libGLESv2.so </a:t>
            </a:r>
            <a:r>
              <a:rPr kumimoji="1" lang="en-US" sz="14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libvulkan.so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in system ROMs.</a:t>
            </a:r>
          </a:p>
          <a:p>
            <a:pPr algn="l">
              <a:lnSpc>
                <a:spcPct val="150000"/>
              </a:lnSpc>
            </a:pPr>
            <a:endParaRPr kumimoji="1" lang="en-US" sz="14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</a:pP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Expose</a:t>
            </a:r>
            <a:r>
              <a:rPr kumimoji="1" lang="en-CN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the functions</a:t>
            </a:r>
            <a:r>
              <a:rPr kumimoji="1" lang="zh-CN" alt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with consistent</a:t>
            </a:r>
            <a:r>
              <a:rPr kumimoji="1" lang="en-CN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names, 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but the internal implementation is written by the vendor.</a:t>
            </a:r>
            <a:endParaRPr kumimoji="1" lang="en-CN" sz="14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A01E738-E0E5-326C-E8AF-9E203A1D3E69}"/>
              </a:ext>
            </a:extLst>
          </p:cNvPr>
          <p:cNvCxnSpPr/>
          <p:nvPr/>
        </p:nvCxnSpPr>
        <p:spPr>
          <a:xfrm>
            <a:off x="6305384" y="1899129"/>
            <a:ext cx="0" cy="418698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1CC83E0-B0F2-AE7A-AB07-FBF806CC4FD6}"/>
              </a:ext>
            </a:extLst>
          </p:cNvPr>
          <p:cNvSpPr/>
          <p:nvPr/>
        </p:nvSpPr>
        <p:spPr>
          <a:xfrm>
            <a:off x="776576" y="5752628"/>
            <a:ext cx="5311472" cy="310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Ring 3 World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671D357-164A-30C4-7542-5FB9E0DD1421}"/>
              </a:ext>
            </a:extLst>
          </p:cNvPr>
          <p:cNvSpPr/>
          <p:nvPr/>
        </p:nvSpPr>
        <p:spPr>
          <a:xfrm>
            <a:off x="6543624" y="5752627"/>
            <a:ext cx="3069499" cy="3101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Ring 0 World</a:t>
            </a:r>
          </a:p>
        </p:txBody>
      </p:sp>
      <p:pic>
        <p:nvPicPr>
          <p:cNvPr id="3074" name="Picture 2" descr="Demystifying Linux Kernel Modules: Loading, Unloading, and Powering Your  System | by Murad Bayoun | Medium">
            <a:extLst>
              <a:ext uri="{FF2B5EF4-FFF2-40B4-BE49-F238E27FC236}">
                <a16:creationId xmlns:a16="http://schemas.microsoft.com/office/drawing/2014/main" id="{88B613FA-9193-AB13-1FC3-EBDB34AA6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532" y="2100610"/>
            <a:ext cx="1548803" cy="154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B123E7C-C316-B3A2-A2FF-E0A036784C30}"/>
              </a:ext>
            </a:extLst>
          </p:cNvPr>
          <p:cNvSpPr txBox="1"/>
          <p:nvPr/>
        </p:nvSpPr>
        <p:spPr>
          <a:xfrm>
            <a:off x="6543624" y="3557923"/>
            <a:ext cx="5089133" cy="19978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Kernel module</a:t>
            </a:r>
          </a:p>
          <a:p>
            <a:pPr algn="l">
              <a:lnSpc>
                <a:spcPct val="150000"/>
              </a:lnSpc>
            </a:pP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register </a:t>
            </a:r>
            <a:r>
              <a:rPr kumimoji="1" lang="en-US" sz="1400" dirty="0">
                <a:solidFill>
                  <a:srgbClr val="0C0D0E"/>
                </a:solidFill>
                <a:latin typeface="-apple-system"/>
                <a:ea typeface="Microsoft YaHei" panose="020B0503020204020204" pitchFamily="34" charset="-122"/>
                <a:cs typeface="Calibri" panose="020F0502020204030204" pitchFamily="34" charset="0"/>
              </a:rPr>
              <a:t>c</a:t>
            </a:r>
            <a:r>
              <a:rPr lang="en-US" sz="1400" b="0" i="0" u="none" strike="noStrike" dirty="0">
                <a:solidFill>
                  <a:srgbClr val="0C0D0E"/>
                </a:solidFill>
                <a:effectLst/>
                <a:latin typeface="-apple-system"/>
              </a:rPr>
              <a:t>haracter devices</a:t>
            </a:r>
            <a:r>
              <a:rPr lang="zh-CN" altLang="en-US" sz="1400" b="0" i="0" u="none" strike="noStrike" dirty="0">
                <a:solidFill>
                  <a:srgbClr val="0C0D0E"/>
                </a:solidFill>
                <a:effectLst/>
                <a:latin typeface="-apple-system"/>
              </a:rPr>
              <a:t> </a:t>
            </a:r>
            <a:r>
              <a:rPr lang="en-US" altLang="zh-CN" sz="1400" b="0" i="0" u="none" strike="noStrike" dirty="0">
                <a:solidFill>
                  <a:srgbClr val="0C0D0E"/>
                </a:solidFill>
                <a:effectLst/>
                <a:latin typeface="-apple-system"/>
              </a:rPr>
              <a:t>like “/dev/kgsl-3d0”,</a:t>
            </a:r>
            <a:r>
              <a:rPr lang="zh-CN" altLang="en-US" sz="1400" dirty="0">
                <a:solidFill>
                  <a:srgbClr val="0C0D0E"/>
                </a:solidFill>
                <a:latin typeface="-apple-system"/>
              </a:rPr>
              <a:t> </a:t>
            </a:r>
            <a:r>
              <a:rPr lang="en-US" altLang="zh-CN" sz="1400" dirty="0">
                <a:solidFill>
                  <a:srgbClr val="0C0D0E"/>
                </a:solidFill>
                <a:latin typeface="-apple-system"/>
              </a:rPr>
              <a:t>“/dev/mali0”</a:t>
            </a:r>
          </a:p>
          <a:p>
            <a:pPr>
              <a:lnSpc>
                <a:spcPct val="150000"/>
              </a:lnSpc>
            </a:pPr>
            <a:endParaRPr lang="en-US" sz="1400" b="0" i="0" u="none" strike="noStrike" dirty="0">
              <a:solidFill>
                <a:srgbClr val="202124"/>
              </a:solidFill>
              <a:effectLst/>
              <a:latin typeface="Google Sans"/>
            </a:endParaRPr>
          </a:p>
          <a:p>
            <a:pPr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202124"/>
                </a:solidFill>
                <a:effectLst/>
                <a:latin typeface="Google Sans"/>
              </a:rPr>
              <a:t>Plenty 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Kernel code written by the vendor.</a:t>
            </a:r>
          </a:p>
          <a:p>
            <a:pPr>
              <a:lnSpc>
                <a:spcPct val="150000"/>
              </a:lnSpc>
            </a:pPr>
            <a:endParaRPr kumimoji="1" lang="en-US" sz="14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kumimoji="1" lang="en-CN" sz="14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33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D8981-62AA-E0C2-0905-DD7C049A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BE87508-693E-23DC-4B84-7423B0B3EE10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AEF43650-EAA3-7A78-4549-9AA5518CB66B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45651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Introduction of Android GPU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EBCDB9-8B20-CACF-7DDE-70100D93FB84}"/>
              </a:ext>
            </a:extLst>
          </p:cNvPr>
          <p:cNvSpPr txBox="1"/>
          <p:nvPr/>
        </p:nvSpPr>
        <p:spPr>
          <a:xfrm>
            <a:off x="615611" y="1391754"/>
            <a:ext cx="2959593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Innormal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GPU rendering</a:t>
            </a: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example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Picture 2" descr="手机京东- 京东">
            <a:extLst>
              <a:ext uri="{FF2B5EF4-FFF2-40B4-BE49-F238E27FC236}">
                <a16:creationId xmlns:a16="http://schemas.microsoft.com/office/drawing/2014/main" id="{D5A8F912-4117-7677-56DB-B1C954727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715" y="2564020"/>
            <a:ext cx="585394" cy="62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右箭头 19">
            <a:extLst>
              <a:ext uri="{FF2B5EF4-FFF2-40B4-BE49-F238E27FC236}">
                <a16:creationId xmlns:a16="http://schemas.microsoft.com/office/drawing/2014/main" id="{C5754B1C-1E90-A58B-D5C7-51BC8FDCEB9E}"/>
              </a:ext>
            </a:extLst>
          </p:cNvPr>
          <p:cNvSpPr/>
          <p:nvPr/>
        </p:nvSpPr>
        <p:spPr>
          <a:xfrm>
            <a:off x="2111090" y="2690972"/>
            <a:ext cx="1096239" cy="478824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Dynamic Link</a:t>
            </a:r>
            <a:endParaRPr kumimoji="1" lang="zh-CN" altLang="en-US" sz="1000" dirty="0"/>
          </a:p>
        </p:txBody>
      </p:sp>
      <p:sp>
        <p:nvSpPr>
          <p:cNvPr id="6" name="右箭头 21">
            <a:extLst>
              <a:ext uri="{FF2B5EF4-FFF2-40B4-BE49-F238E27FC236}">
                <a16:creationId xmlns:a16="http://schemas.microsoft.com/office/drawing/2014/main" id="{E8C77C1B-5F9F-4786-BB1F-1BED680947BF}"/>
              </a:ext>
            </a:extLst>
          </p:cNvPr>
          <p:cNvSpPr/>
          <p:nvPr/>
        </p:nvSpPr>
        <p:spPr>
          <a:xfrm>
            <a:off x="5133654" y="2668925"/>
            <a:ext cx="1548787" cy="478824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 err="1"/>
              <a:t>ioctl</a:t>
            </a:r>
            <a:r>
              <a:rPr kumimoji="1" lang="en-US" altLang="zh-CN" sz="1000" dirty="0"/>
              <a:t> / </a:t>
            </a:r>
            <a:r>
              <a:rPr kumimoji="1" lang="en-US" altLang="zh-CN" sz="1000" dirty="0" err="1"/>
              <a:t>mmap</a:t>
            </a:r>
            <a:endParaRPr kumimoji="1" lang="zh-CN" altLang="en-US" sz="1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AFE0F1-F1A7-9943-B5EA-7D101F2E7387}"/>
              </a:ext>
            </a:extLst>
          </p:cNvPr>
          <p:cNvCxnSpPr/>
          <p:nvPr/>
        </p:nvCxnSpPr>
        <p:spPr>
          <a:xfrm>
            <a:off x="6305384" y="1899129"/>
            <a:ext cx="0" cy="418698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C298282-1ECC-F41E-0A9C-0BEC261C0B99}"/>
              </a:ext>
            </a:extLst>
          </p:cNvPr>
          <p:cNvSpPr/>
          <p:nvPr/>
        </p:nvSpPr>
        <p:spPr>
          <a:xfrm>
            <a:off x="776576" y="5752628"/>
            <a:ext cx="5311472" cy="310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Ring 3 World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BB8F4D-1F24-A4AA-1758-1902DDD3B844}"/>
              </a:ext>
            </a:extLst>
          </p:cNvPr>
          <p:cNvSpPr/>
          <p:nvPr/>
        </p:nvSpPr>
        <p:spPr>
          <a:xfrm>
            <a:off x="6543624" y="5752627"/>
            <a:ext cx="3069499" cy="3101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Ring 0 World</a:t>
            </a:r>
          </a:p>
        </p:txBody>
      </p:sp>
      <p:pic>
        <p:nvPicPr>
          <p:cNvPr id="16" name="Picture 2" descr="Demystifying Linux Kernel Modules: Loading, Unloading, and Powering Your  System | by Murad Bayoun | Medium">
            <a:extLst>
              <a:ext uri="{FF2B5EF4-FFF2-40B4-BE49-F238E27FC236}">
                <a16:creationId xmlns:a16="http://schemas.microsoft.com/office/drawing/2014/main" id="{38AE909E-6272-2985-434F-F3E230F31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532" y="2100610"/>
            <a:ext cx="1548803" cy="154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下弧形箭头 25">
            <a:extLst>
              <a:ext uri="{FF2B5EF4-FFF2-40B4-BE49-F238E27FC236}">
                <a16:creationId xmlns:a16="http://schemas.microsoft.com/office/drawing/2014/main" id="{4FF53DAD-6A61-EEE8-2942-C1810F475287}"/>
              </a:ext>
            </a:extLst>
          </p:cNvPr>
          <p:cNvSpPr/>
          <p:nvPr/>
        </p:nvSpPr>
        <p:spPr>
          <a:xfrm flipV="1">
            <a:off x="1870108" y="3645215"/>
            <a:ext cx="6250721" cy="871091"/>
          </a:xfrm>
          <a:prstGeom prst="curvedDownArrow">
            <a:avLst>
              <a:gd name="adj1" fmla="val 21384"/>
              <a:gd name="adj2" fmla="val 50000"/>
              <a:gd name="adj3" fmla="val 1952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90FD67-6F65-C258-03B9-91BCC8A4152E}"/>
              </a:ext>
            </a:extLst>
          </p:cNvPr>
          <p:cNvSpPr txBox="1"/>
          <p:nvPr/>
        </p:nvSpPr>
        <p:spPr>
          <a:xfrm>
            <a:off x="3476950" y="4602947"/>
            <a:ext cx="2619050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Illegal 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ioctl</a:t>
            </a: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/</a:t>
            </a: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mmap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sequence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21" name="Picture 8" descr="Premium Vector | Modern flat design of DLL file icon for web">
            <a:extLst>
              <a:ext uri="{FF2B5EF4-FFF2-40B4-BE49-F238E27FC236}">
                <a16:creationId xmlns:a16="http://schemas.microsoft.com/office/drawing/2014/main" id="{CAFFA656-D29F-4AE2-BB27-57BCCA9F9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420" y="2544159"/>
            <a:ext cx="725940" cy="72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37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2F868-9062-8719-EF35-625D9CCDD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5CEBE368-FC86-5248-18D6-2CE4EC47A711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F93CD1B5-D4EF-9B3E-25EB-44E611367CA3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45651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Introduction of Android GPU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78A667-793D-E784-8F7B-80912DFF39FB}"/>
              </a:ext>
            </a:extLst>
          </p:cNvPr>
          <p:cNvSpPr txBox="1"/>
          <p:nvPr/>
        </p:nvSpPr>
        <p:spPr>
          <a:xfrm>
            <a:off x="615611" y="1391754"/>
            <a:ext cx="3601820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Android Security Protection for HAL code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3F7E74-EA11-D83A-2041-31F8EA0BC677}"/>
              </a:ext>
            </a:extLst>
          </p:cNvPr>
          <p:cNvSpPr txBox="1"/>
          <p:nvPr/>
        </p:nvSpPr>
        <p:spPr>
          <a:xfrm>
            <a:off x="910836" y="1809882"/>
            <a:ext cx="4035657" cy="792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Limit the </a:t>
            </a:r>
            <a:r>
              <a:rPr kumimoji="1" lang="en-US" sz="1600" dirty="0">
                <a:solidFill>
                  <a:srgbClr val="0C0D0E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</a:t>
            </a:r>
            <a:r>
              <a:rPr lang="en-US" sz="1600" b="0" i="0" u="none" strike="noStrike" dirty="0">
                <a:solidFill>
                  <a:srgbClr val="0C0D0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haracter device</a:t>
            </a:r>
            <a:r>
              <a:rPr lang="zh-CN" altLang="en-US" sz="1600" b="0" i="0" u="none" strike="noStrike" dirty="0">
                <a:solidFill>
                  <a:srgbClr val="0C0D0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b="0" i="0" u="none" strike="noStrike" dirty="0">
                <a:solidFill>
                  <a:srgbClr val="0C0D0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file permission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 err="1">
                <a:solidFill>
                  <a:srgbClr val="0C0D0E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SeLinux</a:t>
            </a:r>
            <a:r>
              <a:rPr kumimoji="1" lang="en-US" sz="1600" dirty="0">
                <a:solidFill>
                  <a:srgbClr val="0C0D0E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restriction</a:t>
            </a:r>
            <a:endParaRPr lang="en-US" altLang="zh-CN" sz="1600" b="0" i="0" u="none" strike="noStrike" dirty="0">
              <a:solidFill>
                <a:srgbClr val="0C0D0E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图片 32">
            <a:extLst>
              <a:ext uri="{FF2B5EF4-FFF2-40B4-BE49-F238E27FC236}">
                <a16:creationId xmlns:a16="http://schemas.microsoft.com/office/drawing/2014/main" id="{3D89F176-F400-4A78-E374-8D044C140F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046"/>
          <a:stretch/>
        </p:blipFill>
        <p:spPr>
          <a:xfrm>
            <a:off x="910836" y="2671939"/>
            <a:ext cx="10007600" cy="1244600"/>
          </a:xfrm>
          <a:prstGeom prst="rect">
            <a:avLst/>
          </a:prstGeom>
        </p:spPr>
      </p:pic>
      <p:pic>
        <p:nvPicPr>
          <p:cNvPr id="14" name="图片 4">
            <a:extLst>
              <a:ext uri="{FF2B5EF4-FFF2-40B4-BE49-F238E27FC236}">
                <a16:creationId xmlns:a16="http://schemas.microsoft.com/office/drawing/2014/main" id="{E180B8DB-B6E3-996C-2993-253CE48518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1318"/>
          <a:stretch/>
        </p:blipFill>
        <p:spPr>
          <a:xfrm>
            <a:off x="910836" y="4520630"/>
            <a:ext cx="9650165" cy="21986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152D306-ABF1-41F1-5D5E-8E1D8ADE6D45}"/>
              </a:ext>
            </a:extLst>
          </p:cNvPr>
          <p:cNvSpPr txBox="1"/>
          <p:nvPr/>
        </p:nvSpPr>
        <p:spPr>
          <a:xfrm>
            <a:off x="910836" y="3974882"/>
            <a:ext cx="3175678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nly system app can access camera </a:t>
            </a:r>
          </a:p>
        </p:txBody>
      </p:sp>
    </p:spTree>
    <p:extLst>
      <p:ext uri="{BB962C8B-B14F-4D97-AF65-F5344CB8AC3E}">
        <p14:creationId xmlns:p14="http://schemas.microsoft.com/office/powerpoint/2010/main" val="2237421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792C-17B1-36EA-5B84-F03481FC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9CD53D0E-E481-3A7E-8CC9-116252AD9AF0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AB68B9C2-1EB3-7C45-9C72-A5BBFE3EF328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45651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Introduction of Android GPU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EF3B67-5726-AC1D-7879-20693F144E73}"/>
              </a:ext>
            </a:extLst>
          </p:cNvPr>
          <p:cNvSpPr txBox="1"/>
          <p:nvPr/>
        </p:nvSpPr>
        <p:spPr>
          <a:xfrm>
            <a:off x="615611" y="1391754"/>
            <a:ext cx="3601820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Android Security Protection for HAL code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9D3867-6A03-146C-6B65-42AE6118D5E1}"/>
              </a:ext>
            </a:extLst>
          </p:cNvPr>
          <p:cNvSpPr txBox="1"/>
          <p:nvPr/>
        </p:nvSpPr>
        <p:spPr>
          <a:xfrm>
            <a:off x="910836" y="1809882"/>
            <a:ext cx="4035657" cy="792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Limit the </a:t>
            </a:r>
            <a:r>
              <a:rPr kumimoji="1" lang="en-US" sz="1600" dirty="0">
                <a:solidFill>
                  <a:srgbClr val="0C0D0E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</a:t>
            </a:r>
            <a:r>
              <a:rPr lang="en-US" sz="1600" b="0" i="0" u="none" strike="noStrike" dirty="0">
                <a:solidFill>
                  <a:srgbClr val="0C0D0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haracter device</a:t>
            </a:r>
            <a:r>
              <a:rPr lang="zh-CN" altLang="en-US" sz="1600" b="0" i="0" u="none" strike="noStrike" dirty="0">
                <a:solidFill>
                  <a:srgbClr val="0C0D0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b="0" i="0" u="none" strike="noStrike" dirty="0">
                <a:solidFill>
                  <a:srgbClr val="0C0D0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file permission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 err="1">
                <a:solidFill>
                  <a:srgbClr val="0C0D0E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SeLinux</a:t>
            </a:r>
            <a:r>
              <a:rPr kumimoji="1" lang="en-US" sz="1600" dirty="0">
                <a:solidFill>
                  <a:srgbClr val="0C0D0E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restriction</a:t>
            </a:r>
            <a:endParaRPr lang="en-US" altLang="zh-CN" sz="1600" b="0" i="0" u="none" strike="noStrike" dirty="0">
              <a:solidFill>
                <a:srgbClr val="0C0D0E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9">
            <a:extLst>
              <a:ext uri="{FF2B5EF4-FFF2-40B4-BE49-F238E27FC236}">
                <a16:creationId xmlns:a16="http://schemas.microsoft.com/office/drawing/2014/main" id="{501EEECA-D793-01C0-FD2B-08D736F9CA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61" b="16296"/>
          <a:stretch/>
        </p:blipFill>
        <p:spPr>
          <a:xfrm>
            <a:off x="615611" y="3632644"/>
            <a:ext cx="10007600" cy="23413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E27E8E-278A-B339-E302-0AFC0048FF50}"/>
              </a:ext>
            </a:extLst>
          </p:cNvPr>
          <p:cNvSpPr txBox="1"/>
          <p:nvPr/>
        </p:nvSpPr>
        <p:spPr>
          <a:xfrm>
            <a:off x="615611" y="3010872"/>
            <a:ext cx="4521165" cy="418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But GPU device is accessable for everyone</a:t>
            </a:r>
          </a:p>
        </p:txBody>
      </p:sp>
    </p:spTree>
    <p:extLst>
      <p:ext uri="{BB962C8B-B14F-4D97-AF65-F5344CB8AC3E}">
        <p14:creationId xmlns:p14="http://schemas.microsoft.com/office/powerpoint/2010/main" val="3134807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8E581-AE2F-E6B6-5056-44C1EE859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DEEB7D9-1E84-C5AD-C824-9F3798D4B832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C3037F-4504-463C-BA62-94F98072E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880970"/>
              </p:ext>
            </p:extLst>
          </p:nvPr>
        </p:nvGraphicFramePr>
        <p:xfrm>
          <a:off x="785125" y="1697372"/>
          <a:ext cx="7517347" cy="237920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5351344">
                  <a:extLst>
                    <a:ext uri="{9D8B030D-6E8A-4147-A177-3AD203B41FA5}">
                      <a16:colId xmlns:a16="http://schemas.microsoft.com/office/drawing/2014/main" val="2470653125"/>
                    </a:ext>
                  </a:extLst>
                </a:gridCol>
                <a:gridCol w="2166003">
                  <a:extLst>
                    <a:ext uri="{9D8B030D-6E8A-4147-A177-3AD203B41FA5}">
                      <a16:colId xmlns:a16="http://schemas.microsoft.com/office/drawing/2014/main" val="2003775235"/>
                    </a:ext>
                  </a:extLst>
                </a:gridCol>
              </a:tblGrid>
              <a:tr h="475841">
                <a:tc>
                  <a:txBody>
                    <a:bodyPr/>
                    <a:lstStyle/>
                    <a:p>
                      <a:pPr algn="l"/>
                      <a:r>
                        <a:rPr lang="en" sz="1000" dirty="0">
                          <a:effectLst/>
                        </a:rPr>
                        <a:t>CVE-2022-22706 / CVE-2021-39793: Mali GPU driver makes read-only imported pages host-writable</a:t>
                      </a:r>
                    </a:p>
                  </a:txBody>
                  <a:tcPr marL="53924" marR="53924" marT="35950" marB="359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dirty="0">
                          <a:effectLst/>
                        </a:rPr>
                        <a:t>GPU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53924" marR="53924" marT="35950" marB="35950" anchor="ctr"/>
                </a:tc>
                <a:extLst>
                  <a:ext uri="{0D108BD9-81ED-4DB2-BD59-A6C34878D82A}">
                    <a16:rowId xmlns:a16="http://schemas.microsoft.com/office/drawing/2014/main" val="4147780629"/>
                  </a:ext>
                </a:extLst>
              </a:tr>
              <a:tr h="475841">
                <a:tc>
                  <a:txBody>
                    <a:bodyPr/>
                    <a:lstStyle/>
                    <a:p>
                      <a:pPr algn="l"/>
                      <a:r>
                        <a:rPr lang="en" sz="1000" dirty="0">
                          <a:effectLst/>
                        </a:rPr>
                        <a:t>CVE-2023-20963: Android: mismatching parcel/</a:t>
                      </a:r>
                      <a:r>
                        <a:rPr lang="en" sz="1000" dirty="0" err="1">
                          <a:effectLst/>
                        </a:rPr>
                        <a:t>unparcel</a:t>
                      </a:r>
                      <a:r>
                        <a:rPr lang="en" sz="1000" dirty="0">
                          <a:effectLst/>
                        </a:rPr>
                        <a:t> </a:t>
                      </a:r>
                      <a:r>
                        <a:rPr lang="en" sz="1000" kern="1200" dirty="0">
                          <a:solidFill>
                            <a:schemeClr val="tx1"/>
                          </a:solidFill>
                          <a:effectLst/>
                        </a:rPr>
                        <a:t>logic</a:t>
                      </a:r>
                      <a:r>
                        <a:rPr lang="en" sz="1000" dirty="0">
                          <a:effectLst/>
                        </a:rPr>
                        <a:t> for </a:t>
                      </a:r>
                      <a:r>
                        <a:rPr lang="en" sz="1000" dirty="0" err="1">
                          <a:effectLst/>
                        </a:rPr>
                        <a:t>WorkSource</a:t>
                      </a:r>
                      <a:endParaRPr lang="en" sz="1000" dirty="0">
                        <a:effectLst/>
                      </a:endParaRPr>
                    </a:p>
                  </a:txBody>
                  <a:tcPr marL="53924" marR="53924" marT="35950" marB="359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dirty="0">
                          <a:effectLst/>
                        </a:rPr>
                        <a:t>Parcel Mismatch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53924" marR="53924" marT="35950" marB="35950" anchor="ctr"/>
                </a:tc>
                <a:extLst>
                  <a:ext uri="{0D108BD9-81ED-4DB2-BD59-A6C34878D82A}">
                    <a16:rowId xmlns:a16="http://schemas.microsoft.com/office/drawing/2014/main" val="513830871"/>
                  </a:ext>
                </a:extLst>
              </a:tr>
              <a:tr h="604639">
                <a:tc>
                  <a:txBody>
                    <a:bodyPr/>
                    <a:lstStyle/>
                    <a:p>
                      <a:pPr algn="l"/>
                      <a:r>
                        <a:rPr lang="en" sz="1000" dirty="0">
                          <a:effectLst/>
                        </a:rPr>
                        <a:t>CVE-2023-33106: Qualcomm Adreno GPU KGSL_GPU_AUX_COMMAND_SYNC OOB</a:t>
                      </a:r>
                    </a:p>
                  </a:txBody>
                  <a:tcPr marL="53924" marR="53924" marT="35950" marB="359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dirty="0">
                          <a:effectLst/>
                        </a:rPr>
                        <a:t>GPU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53924" marR="53924" marT="35950" marB="35950" anchor="ctr"/>
                </a:tc>
                <a:extLst>
                  <a:ext uri="{0D108BD9-81ED-4DB2-BD59-A6C34878D82A}">
                    <a16:rowId xmlns:a16="http://schemas.microsoft.com/office/drawing/2014/main" val="3152374561"/>
                  </a:ext>
                </a:extLst>
              </a:tr>
              <a:tr h="475841">
                <a:tc>
                  <a:txBody>
                    <a:bodyPr/>
                    <a:lstStyle/>
                    <a:p>
                      <a:pPr algn="l"/>
                      <a:r>
                        <a:rPr lang="en" sz="1000" dirty="0">
                          <a:effectLst/>
                        </a:rPr>
                        <a:t>CVE-2023-33107: Qualcomm Adreno GPU KGSL_IOCTL_GPUOBJ_IMPORT integer overflow</a:t>
                      </a:r>
                    </a:p>
                  </a:txBody>
                  <a:tcPr marL="53924" marR="53924" marT="35950" marB="359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dirty="0">
                          <a:effectLst/>
                        </a:rPr>
                        <a:t>GPU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53924" marR="53924" marT="35950" marB="35950" anchor="ctr"/>
                </a:tc>
                <a:extLst>
                  <a:ext uri="{0D108BD9-81ED-4DB2-BD59-A6C34878D82A}">
                    <a16:rowId xmlns:a16="http://schemas.microsoft.com/office/drawing/2014/main" val="3252079772"/>
                  </a:ext>
                </a:extLst>
              </a:tr>
              <a:tr h="347042">
                <a:tc>
                  <a:txBody>
                    <a:bodyPr/>
                    <a:lstStyle/>
                    <a:p>
                      <a:pPr algn="l"/>
                      <a:r>
                        <a:rPr lang="en" sz="1000" dirty="0">
                          <a:effectLst/>
                        </a:rPr>
                        <a:t>CVE-2023-4211: Use-after-Free in ARM Mali GPU Driver</a:t>
                      </a:r>
                    </a:p>
                  </a:txBody>
                  <a:tcPr marL="53924" marR="53924" marT="35950" marB="359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dirty="0">
                          <a:effectLst/>
                        </a:rPr>
                        <a:t>GPU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53924" marR="53924" marT="35950" marB="35950" anchor="ctr"/>
                </a:tc>
                <a:extLst>
                  <a:ext uri="{0D108BD9-81ED-4DB2-BD59-A6C34878D82A}">
                    <a16:rowId xmlns:a16="http://schemas.microsoft.com/office/drawing/2014/main" val="141618496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89176A0C-54AA-AC25-D815-1B44D267A056}"/>
              </a:ext>
            </a:extLst>
          </p:cNvPr>
          <p:cNvSpPr txBox="1"/>
          <p:nvPr/>
        </p:nvSpPr>
        <p:spPr>
          <a:xfrm>
            <a:off x="2538449" y="4164050"/>
            <a:ext cx="4102405" cy="3406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" altLang="zh-CN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https://</a:t>
            </a:r>
            <a:r>
              <a:rPr kumimoji="1" lang="en" altLang="zh-CN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googleprojectzero.github.io</a:t>
            </a:r>
            <a:r>
              <a:rPr kumimoji="1" lang="en" altLang="zh-CN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/0days-in-the-wild/</a:t>
            </a:r>
            <a:r>
              <a:rPr kumimoji="1" lang="en" altLang="zh-CN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rca.html</a:t>
            </a:r>
            <a:endParaRPr kumimoji="1" lang="zh-CN" altLang="en-US" sz="12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9F006-5747-293F-F1EA-59DD6238FB5F}"/>
              </a:ext>
            </a:extLst>
          </p:cNvPr>
          <p:cNvSpPr txBox="1"/>
          <p:nvPr/>
        </p:nvSpPr>
        <p:spPr>
          <a:xfrm>
            <a:off x="743463" y="1191770"/>
            <a:ext cx="2383858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Android Exploit in the wild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40C12-077A-87ED-8551-2B7406E6B8A8}"/>
              </a:ext>
            </a:extLst>
          </p:cNvPr>
          <p:cNvSpPr txBox="1"/>
          <p:nvPr/>
        </p:nvSpPr>
        <p:spPr>
          <a:xfrm>
            <a:off x="1977214" y="4951564"/>
            <a:ext cx="5387309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GPU is the weakest component in Android security ecosystem!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17F00688-3E99-4CA9-69BD-51479FD71826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45651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Introduction of Android GPU</a:t>
            </a:r>
          </a:p>
        </p:txBody>
      </p:sp>
    </p:spTree>
    <p:extLst>
      <p:ext uri="{BB962C8B-B14F-4D97-AF65-F5344CB8AC3E}">
        <p14:creationId xmlns:p14="http://schemas.microsoft.com/office/powerpoint/2010/main" val="270957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36E5-D3C5-D0AE-BF36-F228CFC42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D6822F8-1DE0-D7E5-4F66-D9D46A3D518D}"/>
              </a:ext>
            </a:extLst>
          </p:cNvPr>
          <p:cNvSpPr txBox="1"/>
          <p:nvPr/>
        </p:nvSpPr>
        <p:spPr>
          <a:xfrm>
            <a:off x="2231609" y="2757149"/>
            <a:ext cx="7728782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03</a:t>
            </a:r>
            <a:r>
              <a:rPr kumimoji="1" lang="zh-CN" altLang="en-US" sz="2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2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</a:t>
            </a:r>
            <a:r>
              <a:rPr kumimoji="1" lang="zh-CN" altLang="en-US" sz="2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2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hunting</a:t>
            </a:r>
            <a:r>
              <a:rPr kumimoji="1" lang="zh-CN" altLang="en-US" sz="2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2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and exploitation of Huawei Kirin SoC</a:t>
            </a:r>
            <a:endParaRPr kumimoji="1" lang="zh-CN" altLang="en-US" sz="28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524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2604-329C-FA89-F57E-68B71149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36C9DEEE-7F86-1D78-913A-A88FB2BEF56F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F15640B9-8C28-CA5F-9C72-91F93A4D2D21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631879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9F3C2-B2F1-E184-D541-36B75A524BE2}"/>
              </a:ext>
            </a:extLst>
          </p:cNvPr>
          <p:cNvSpPr txBox="1"/>
          <p:nvPr/>
        </p:nvSpPr>
        <p:spPr>
          <a:xfrm>
            <a:off x="601784" y="1344246"/>
            <a:ext cx="4204356" cy="26395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The Target</a:t>
            </a: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Huawei 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Mate60 Pro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Launched in August 2023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Kirin</a:t>
            </a: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9000S</a:t>
            </a: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SoC</a:t>
            </a:r>
          </a:p>
          <a:p>
            <a:pPr algn="l">
              <a:lnSpc>
                <a:spcPct val="150000"/>
              </a:lnSpc>
            </a:pPr>
            <a:endParaRPr kumimoji="1" lang="en-US" altLang="zh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kernel driver is open source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hlinkClick r:id="rId3"/>
              </a:rPr>
              <a:t>https://consumer.huawei.com/en/opensource/</a:t>
            </a:r>
            <a:endParaRPr kumimoji="1" lang="en-US" altLang="zh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304FA2-4100-EBF5-0EB0-679AB7C34BCC}"/>
              </a:ext>
            </a:extLst>
          </p:cNvPr>
          <p:cNvSpPr txBox="1"/>
          <p:nvPr/>
        </p:nvSpPr>
        <p:spPr>
          <a:xfrm>
            <a:off x="601784" y="4534280"/>
            <a:ext cx="2914067" cy="7916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device char file /dev/hvgr0</a:t>
            </a:r>
          </a:p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No public vulnerability reports</a:t>
            </a: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！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742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0A852-3975-132B-2C0F-3B4C4BF8E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F3D06853-677B-E2DF-CC0C-853C651D42C7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ECA77DD6-246E-9D00-709C-3BB7AA35EB4D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C54E1-1B85-635E-9D61-82CC2E70596D}"/>
              </a:ext>
            </a:extLst>
          </p:cNvPr>
          <p:cNvSpPr txBox="1"/>
          <p:nvPr/>
        </p:nvSpPr>
        <p:spPr>
          <a:xfrm>
            <a:off x="601784" y="1344246"/>
            <a:ext cx="2902333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Kirin GPU Memory Management</a:t>
            </a:r>
            <a:endParaRPr kumimoji="1" lang="en-US" altLang="zh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BDE568-36DF-55C7-712F-3EAF1C42D5FF}"/>
              </a:ext>
            </a:extLst>
          </p:cNvPr>
          <p:cNvSpPr txBox="1"/>
          <p:nvPr/>
        </p:nvSpPr>
        <p:spPr>
          <a:xfrm>
            <a:off x="1042416" y="2428556"/>
            <a:ext cx="10122408" cy="375699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int </a:t>
            </a:r>
            <a:r>
              <a:rPr kumimoji="1" lang="en-US" sz="1200" dirty="0" err="1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gfd</a:t>
            </a: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open(“/dev/hvgr0”, O_RDWR);                                            </a:t>
            </a:r>
            <a:r>
              <a:rPr kumimoji="1" lang="zh-CN" alt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// </a:t>
            </a:r>
            <a:r>
              <a:rPr kumimoji="1" lang="en-US" altLang="zh-CN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【1】</a:t>
            </a:r>
            <a:r>
              <a:rPr kumimoji="1" lang="en-US" sz="16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create a  new GPU context</a:t>
            </a: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hvgr_ioctl_para_drv_cfg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memset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(&amp;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, 0,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sizeof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));</a:t>
            </a: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args.mem_replay_size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0;</a:t>
            </a: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1" lang="en-US" sz="1200" dirty="0" err="1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ioctl</a:t>
            </a: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kumimoji="1" lang="en-US" sz="1200" dirty="0" err="1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gfd</a:t>
            </a: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, HVGR_CFG_CONFIG, &amp;</a:t>
            </a:r>
            <a:r>
              <a:rPr kumimoji="1" lang="en-US" sz="1200" dirty="0" err="1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</a:t>
            </a: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);</a:t>
            </a:r>
            <a:r>
              <a:rPr kumimoji="1" lang="zh-CN" alt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                                            </a:t>
            </a:r>
            <a:r>
              <a:rPr kumimoji="1" lang="en-US" altLang="zh-CN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//</a:t>
            </a:r>
            <a:r>
              <a:rPr kumimoji="1" lang="zh-CN" alt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【2】 </a:t>
            </a:r>
            <a:r>
              <a:rPr kumimoji="1" lang="en-US" altLang="zh-CN" sz="1200" dirty="0" err="1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init</a:t>
            </a:r>
            <a:r>
              <a:rPr kumimoji="1" lang="en-US" altLang="zh-CN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GPU configuration</a:t>
            </a:r>
            <a:endParaRPr kumimoji="1" lang="en-US" sz="1200" dirty="0">
              <a:highlight>
                <a:srgbClr val="FFFF00"/>
              </a:highlight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#define PAGESIZE (1024L * 1024L * 1024L)</a:t>
            </a: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hvgr_ioctl_para_alloc_memory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args_alloc.in.pages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0;</a:t>
            </a: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args_alloc.in.max_pages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PAGESIZE &gt;&gt; 12;</a:t>
            </a: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args_alloc.in.attribute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HVGR_MEM_ATTR_GPU_RD | HVGR_MEM_ATTR_GPU_WR | HVGR_MEM_ATTR_GROWABLE | HVGR_MEM_MASK_UMD_ACCESS;</a:t>
            </a: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args_alloc.in.va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0;</a:t>
            </a: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1" lang="en-US" sz="12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args_alloc.in.property</a:t>
            </a:r>
            <a:r>
              <a:rPr kumimoji="1" lang="en-US" sz="12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HVGR_MEM_PROPERTY_SAME_VA;</a:t>
            </a:r>
          </a:p>
          <a:p>
            <a:pPr algn="l">
              <a:lnSpc>
                <a:spcPct val="150000"/>
              </a:lnSpc>
            </a:pP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ret = </a:t>
            </a:r>
            <a:r>
              <a:rPr kumimoji="1" lang="en-US" sz="1200" dirty="0" err="1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ioctl</a:t>
            </a: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kumimoji="1" lang="en-US" sz="1200" dirty="0" err="1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gfd</a:t>
            </a: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, HVGR_MEM_ALLOC, &amp;</a:t>
            </a:r>
            <a:r>
              <a:rPr kumimoji="1" lang="en-US" sz="1200" dirty="0" err="1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</a:t>
            </a: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);                               // </a:t>
            </a:r>
            <a:r>
              <a:rPr kumimoji="1" lang="en-US" altLang="zh-CN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【3】alloc a GPU memory with specific property and </a:t>
            </a:r>
            <a:r>
              <a:rPr kumimoji="1" lang="en-US" sz="12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attribute</a:t>
            </a:r>
            <a:endParaRPr kumimoji="1" lang="en-CN" sz="1200" dirty="0">
              <a:highlight>
                <a:srgbClr val="FFFF00"/>
              </a:highlight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504F02-BB7B-51CA-0169-6AA25EADFDA4}"/>
              </a:ext>
            </a:extLst>
          </p:cNvPr>
          <p:cNvSpPr txBox="1"/>
          <p:nvPr/>
        </p:nvSpPr>
        <p:spPr>
          <a:xfrm>
            <a:off x="1042416" y="1847088"/>
            <a:ext cx="2449710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Sim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lar with Mali GPU KMD</a:t>
            </a:r>
          </a:p>
        </p:txBody>
      </p:sp>
    </p:spTree>
    <p:extLst>
      <p:ext uri="{BB962C8B-B14F-4D97-AF65-F5344CB8AC3E}">
        <p14:creationId xmlns:p14="http://schemas.microsoft.com/office/powerpoint/2010/main" val="2369858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70E55-DF28-BA1D-E0B3-9ABDA003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280D31F5-00E3-A1E1-FB47-99DECB2089F0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938F2AE0-AF43-034C-B70E-3C3BD938AC53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71143-261A-4F5A-4B88-4D61C3D91DD9}"/>
              </a:ext>
            </a:extLst>
          </p:cNvPr>
          <p:cNvSpPr txBox="1"/>
          <p:nvPr/>
        </p:nvSpPr>
        <p:spPr>
          <a:xfrm>
            <a:off x="601784" y="1344246"/>
            <a:ext cx="2902333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Kirin GPU Memory Management</a:t>
            </a:r>
            <a:endParaRPr kumimoji="1" lang="en-US" altLang="zh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207A7B-8291-19AC-1A58-F86E6EC4E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328703"/>
              </p:ext>
            </p:extLst>
          </p:nvPr>
        </p:nvGraphicFramePr>
        <p:xfrm>
          <a:off x="693864" y="1964341"/>
          <a:ext cx="8646288" cy="446419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539808">
                  <a:extLst>
                    <a:ext uri="{9D8B030D-6E8A-4147-A177-3AD203B41FA5}">
                      <a16:colId xmlns:a16="http://schemas.microsoft.com/office/drawing/2014/main" val="73803786"/>
                    </a:ext>
                  </a:extLst>
                </a:gridCol>
                <a:gridCol w="5106480">
                  <a:extLst>
                    <a:ext uri="{9D8B030D-6E8A-4147-A177-3AD203B41FA5}">
                      <a16:colId xmlns:a16="http://schemas.microsoft.com/office/drawing/2014/main" val="1936377648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GPU</a:t>
                      </a:r>
                      <a:r>
                        <a:rPr lang="en-US" altLang="zh-CN" sz="1500" dirty="0">
                          <a:effectLst/>
                        </a:rPr>
                        <a:t> Memory Property List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39159" marR="39159" marT="23495" marB="23495" anchor="ctr"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>
                          <a:effectLst/>
                        </a:rPr>
                        <a:t>Function</a:t>
                      </a:r>
                      <a:r>
                        <a:rPr lang="zh-CN" altLang="en-US" sz="1500" dirty="0">
                          <a:effectLst/>
                        </a:rPr>
                        <a:t> </a:t>
                      </a:r>
                    </a:p>
                  </a:txBody>
                  <a:tcPr marL="39159" marR="39159" marT="23495" marB="23495" anchor="ctr"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2775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</a:rPr>
                        <a:t>HVGR_MEM_PROPERTY_GPU_MEM</a:t>
                      </a: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 err="1">
                          <a:effectLst/>
                        </a:rPr>
                        <a:t>Alloc</a:t>
                      </a:r>
                      <a:r>
                        <a:rPr lang="en-US" altLang="zh-CN" sz="1500" dirty="0">
                          <a:effectLst/>
                        </a:rPr>
                        <a:t> normal GPU memory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2937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</a:rPr>
                        <a:t>HVGR_MEM_PROPERTY_SAME_VA</a:t>
                      </a: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 err="1">
                          <a:effectLst/>
                        </a:rPr>
                        <a:t>Alloc</a:t>
                      </a:r>
                      <a:r>
                        <a:rPr lang="en-US" altLang="zh-CN" sz="1500" dirty="0">
                          <a:effectLst/>
                        </a:rPr>
                        <a:t> normal GPU memory, </a:t>
                      </a:r>
                      <a:r>
                        <a:rPr lang="en-US" altLang="zh-CN" sz="1500" dirty="0" err="1">
                          <a:effectLst/>
                        </a:rPr>
                        <a:t>mmap</a:t>
                      </a:r>
                      <a:r>
                        <a:rPr lang="en-US" altLang="zh-CN" sz="1500" dirty="0">
                          <a:effectLst/>
                        </a:rPr>
                        <a:t> it to CPU process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2844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</a:rPr>
                        <a:t>HVGR_MEM_PROPERTY_4G_VA</a:t>
                      </a: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 err="1">
                          <a:effectLst/>
                        </a:rPr>
                        <a:t>Alloc</a:t>
                      </a:r>
                      <a:r>
                        <a:rPr lang="en-US" altLang="zh-CN" sz="1500" dirty="0">
                          <a:effectLst/>
                        </a:rPr>
                        <a:t> a specific GPU memory with 4G size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90002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chemeClr val="tx1"/>
                          </a:solidFill>
                          <a:effectLst/>
                        </a:rPr>
                        <a:t>HVGR_MEM_PROPERTY_2M_PAGE</a:t>
                      </a: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 err="1">
                          <a:effectLst/>
                        </a:rPr>
                        <a:t>Alloc</a:t>
                      </a:r>
                      <a:r>
                        <a:rPr lang="en-US" altLang="zh-CN" sz="1500" dirty="0">
                          <a:effectLst/>
                        </a:rPr>
                        <a:t> a GPU memory, align the GVA with 2M, it will be allocated from an isolated memory pool </a:t>
                      </a: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89381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chemeClr val="tx1"/>
                          </a:solidFill>
                          <a:effectLst/>
                        </a:rPr>
                        <a:t>HVGR_MEM_PROPERTY_REPLAY</a:t>
                      </a: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>
                          <a:effectLst/>
                        </a:rPr>
                        <a:t>GPU memory for profiling and debugging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24806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chemeClr val="tx1"/>
                          </a:solidFill>
                          <a:effectLst/>
                        </a:rPr>
                        <a:t>HVGR_MEM_PROPERTY_SPARSE</a:t>
                      </a: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>
                          <a:effectLst/>
                        </a:rPr>
                        <a:t>Special memory for sparse matrix 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57667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</a:rPr>
                        <a:t>HVGR_MEM_PROPERTY_JIT</a:t>
                      </a: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GPU Code Memory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401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chemeClr val="tx1"/>
                          </a:solidFill>
                          <a:effectLst/>
                        </a:rPr>
                        <a:t>HVGR_MEM_PROPERTY_DRIVER</a:t>
                      </a: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>
                          <a:effectLst/>
                        </a:rPr>
                        <a:t>Memory related to GPU drivers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88356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chemeClr val="tx1"/>
                          </a:solidFill>
                          <a:effectLst/>
                        </a:rPr>
                        <a:t>HVGR_MEM_PROPERTY_IMPORT</a:t>
                      </a: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>
                          <a:effectLst/>
                        </a:rPr>
                        <a:t>Import </a:t>
                      </a:r>
                      <a:r>
                        <a:rPr lang="en-US" altLang="zh-CN" sz="1500" dirty="0" err="1">
                          <a:effectLst/>
                        </a:rPr>
                        <a:t>userspace</a:t>
                      </a:r>
                      <a:r>
                        <a:rPr lang="en-US" altLang="zh-CN" sz="1500" dirty="0">
                          <a:effectLst/>
                        </a:rPr>
                        <a:t> CVA memory to GPU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5923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</a:rPr>
                        <a:t>HVGR_MEM_PROPERTY_ALIAS</a:t>
                      </a: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 err="1">
                          <a:effectLst/>
                        </a:rPr>
                        <a:t>Mmap</a:t>
                      </a:r>
                      <a:r>
                        <a:rPr lang="en-US" altLang="zh-CN" sz="1500" dirty="0">
                          <a:effectLst/>
                        </a:rPr>
                        <a:t> a GPU memory with new GVA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39159" marR="39159" marT="23495" marB="23495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373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1D3CC4-DB77-73AC-9985-4770CF4AFAA2}"/>
              </a:ext>
            </a:extLst>
          </p:cNvPr>
          <p:cNvSpPr txBox="1"/>
          <p:nvPr/>
        </p:nvSpPr>
        <p:spPr>
          <a:xfrm>
            <a:off x="9639293" y="2093976"/>
            <a:ext cx="1896096" cy="22701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GVA:</a:t>
            </a:r>
          </a:p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GPU Virual Memory</a:t>
            </a:r>
          </a:p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CVA:</a:t>
            </a:r>
          </a:p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CPU Virtual Memory</a:t>
            </a:r>
          </a:p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PA:</a:t>
            </a:r>
          </a:p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2890902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08491-3CD6-2DBC-B18B-7B0B63BB3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FDB74A1E-5FC6-BA71-2907-437F1D702884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B6DD0BF0-200D-3CE1-941D-5B152E9DBDE1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4CD2B-62CF-EA03-BC37-43E315EFE093}"/>
              </a:ext>
            </a:extLst>
          </p:cNvPr>
          <p:cNvSpPr txBox="1"/>
          <p:nvPr/>
        </p:nvSpPr>
        <p:spPr>
          <a:xfrm>
            <a:off x="601784" y="1344246"/>
            <a:ext cx="2902333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Kirin GPU Memory Management</a:t>
            </a:r>
            <a:endParaRPr kumimoji="1" lang="en-US" altLang="zh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1098A-B557-79F6-C954-87E6032A8353}"/>
              </a:ext>
            </a:extLst>
          </p:cNvPr>
          <p:cNvSpPr txBox="1"/>
          <p:nvPr/>
        </p:nvSpPr>
        <p:spPr>
          <a:xfrm>
            <a:off x="818161" y="1929917"/>
            <a:ext cx="5112169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To ensure that GPU virtual memory areas does not overlap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D66E0A-D6CA-7FBA-E8E9-0716A552A7A6}"/>
              </a:ext>
            </a:extLst>
          </p:cNvPr>
          <p:cNvSpPr txBox="1"/>
          <p:nvPr/>
        </p:nvSpPr>
        <p:spPr>
          <a:xfrm>
            <a:off x="951915" y="2306524"/>
            <a:ext cx="4459234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1. Use a RBTree to maintain GPU memory block list</a:t>
            </a: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39083-4BAF-C7E9-31E7-F2BDD73818FC}"/>
              </a:ext>
            </a:extLst>
          </p:cNvPr>
          <p:cNvSpPr txBox="1"/>
          <p:nvPr/>
        </p:nvSpPr>
        <p:spPr>
          <a:xfrm>
            <a:off x="1280160" y="2724652"/>
            <a:ext cx="2132956" cy="792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Qualcomm Snapdragon</a:t>
            </a:r>
          </a:p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Mali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B32EF-E0B0-FF51-2C0F-B6697A085BE1}"/>
              </a:ext>
            </a:extLst>
          </p:cNvPr>
          <p:cNvSpPr txBox="1"/>
          <p:nvPr/>
        </p:nvSpPr>
        <p:spPr>
          <a:xfrm>
            <a:off x="951915" y="3512112"/>
            <a:ext cx="4752904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2.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se Linux System Virtual </a:t>
            </a:r>
            <a:r>
              <a:rPr lang="en-US" sz="1600" b="0" i="0" u="none" strike="noStrike" dirty="0">
                <a:solidFill>
                  <a:srgbClr val="3E434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Memory Management APIs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D10B4B-C2D0-6489-E761-F1893C1395A2}"/>
              </a:ext>
            </a:extLst>
          </p:cNvPr>
          <p:cNvSpPr txBox="1"/>
          <p:nvPr/>
        </p:nvSpPr>
        <p:spPr>
          <a:xfrm>
            <a:off x="1280160" y="3881444"/>
            <a:ext cx="564578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Kirin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DF2419-6087-FB2F-7FFA-E534F1B8B6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071"/>
          <a:stretch/>
        </p:blipFill>
        <p:spPr>
          <a:xfrm>
            <a:off x="951915" y="4426972"/>
            <a:ext cx="6601029" cy="16980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9974888-FBDC-078A-A03E-8EBA69172B4C}"/>
              </a:ext>
            </a:extLst>
          </p:cNvPr>
          <p:cNvSpPr txBox="1"/>
          <p:nvPr/>
        </p:nvSpPr>
        <p:spPr>
          <a:xfrm>
            <a:off x="7706612" y="4140922"/>
            <a:ext cx="2987613" cy="19008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GPU RW only memory</a:t>
            </a:r>
          </a:p>
          <a:p>
            <a:pPr algn="l">
              <a:lnSpc>
                <a:spcPct val="150000"/>
              </a:lnSpc>
            </a:pP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prot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&amp;= ~(VM_READ|VM_WRITE)</a:t>
            </a:r>
          </a:p>
          <a:p>
            <a:pPr algn="l">
              <a:lnSpc>
                <a:spcPct val="150000"/>
              </a:lnSpc>
            </a:pPr>
            <a:endParaRPr kumimoji="1" lang="en-US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GPU and CPU shared 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RW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memory</a:t>
            </a:r>
          </a:p>
          <a:p>
            <a:pPr>
              <a:lnSpc>
                <a:spcPct val="150000"/>
              </a:lnSpc>
            </a:pP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prot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|= (VM_READ|VM_WRITE)</a:t>
            </a:r>
          </a:p>
        </p:txBody>
      </p:sp>
    </p:spTree>
    <p:extLst>
      <p:ext uri="{BB962C8B-B14F-4D97-AF65-F5344CB8AC3E}">
        <p14:creationId xmlns:p14="http://schemas.microsoft.com/office/powerpoint/2010/main" val="3213032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6F83-5A90-0032-5995-11542AF69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BC82E01F-4E51-2090-D652-8AE3B254C68A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570AFC6A-5D96-EAA8-21D5-4C1D440FE654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08B21-772A-26F2-F5DA-54CC92BCF8AB}"/>
              </a:ext>
            </a:extLst>
          </p:cNvPr>
          <p:cNvSpPr txBox="1"/>
          <p:nvPr/>
        </p:nvSpPr>
        <p:spPr>
          <a:xfrm>
            <a:off x="603504" y="1389888"/>
            <a:ext cx="3195298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GPU SAME_VA alloc function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9677B-C8A4-285F-743F-9025CF815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31839"/>
            <a:ext cx="6663182" cy="44911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70C80F-8F48-D957-94DE-A1F6C718FC02}"/>
              </a:ext>
            </a:extLst>
          </p:cNvPr>
          <p:cNvSpPr txBox="1"/>
          <p:nvPr/>
        </p:nvSpPr>
        <p:spPr>
          <a:xfrm>
            <a:off x="6876038" y="2393527"/>
            <a:ext cx="2318712" cy="42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【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1】alloc physical pages</a:t>
            </a:r>
            <a:endParaRPr kumimoji="1" lang="en-CN" altLang="zh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E86615-705F-B80C-D310-187FC6F6474C}"/>
              </a:ext>
            </a:extLst>
          </p:cNvPr>
          <p:cNvSpPr txBox="1"/>
          <p:nvPr/>
        </p:nvSpPr>
        <p:spPr>
          <a:xfrm>
            <a:off x="6876038" y="2986332"/>
            <a:ext cx="5102601" cy="78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【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2】alloc new </a:t>
            </a:r>
            <a:r>
              <a:rPr kumimoji="1" lang="en-US" altLang="zh-CN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vma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entry using </a:t>
            </a:r>
            <a:r>
              <a:rPr kumimoji="1" lang="en-US" altLang="zh-CN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vm_mmap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,</a:t>
            </a: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      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  setup CPU </a:t>
            </a:r>
            <a:r>
              <a:rPr kumimoji="1" lang="en-US" altLang="zh-CN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pagefault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callback</a:t>
            </a:r>
            <a:endParaRPr kumimoji="1" lang="en-CN" altLang="zh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60EFA-E571-CD49-9FAB-ABAA36AA1F28}"/>
              </a:ext>
            </a:extLst>
          </p:cNvPr>
          <p:cNvSpPr txBox="1"/>
          <p:nvPr/>
        </p:nvSpPr>
        <p:spPr>
          <a:xfrm>
            <a:off x="6876038" y="3997615"/>
            <a:ext cx="2494081" cy="42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【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3】setup GPU page</a:t>
            </a: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table</a:t>
            </a:r>
            <a:endParaRPr kumimoji="1" lang="en-CN" altLang="zh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C443D8-8439-F459-BBDF-69561C99850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215384" y="2604707"/>
            <a:ext cx="2660654" cy="4870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858BD7-0E81-7E1D-ED73-64D7727FFDD0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5221224" y="3380062"/>
            <a:ext cx="1654814" cy="14952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788B86-F351-F0CD-726B-8ED23EBCEA00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970644" y="4208795"/>
            <a:ext cx="2905394" cy="90169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288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83AF-BBEE-6438-74EC-308292AB1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5BFD5635-1BC1-DF59-D960-D11F1B747C0E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0E68A5B-104B-A0A7-EC4A-95235BAD0894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FD124A-21FB-A0EF-CC1F-6769CE469E51}"/>
              </a:ext>
            </a:extLst>
          </p:cNvPr>
          <p:cNvSpPr txBox="1"/>
          <p:nvPr/>
        </p:nvSpPr>
        <p:spPr>
          <a:xfrm>
            <a:off x="603504" y="1389888"/>
            <a:ext cx="2540119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GPU SAME_VA free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B7D8A-6A9F-7255-FBDB-336D42BFD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08" y="2230265"/>
            <a:ext cx="6731000" cy="1993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7057E4-668F-73B5-99E6-AB7B2749D533}"/>
              </a:ext>
            </a:extLst>
          </p:cNvPr>
          <p:cNvSpPr txBox="1"/>
          <p:nvPr/>
        </p:nvSpPr>
        <p:spPr>
          <a:xfrm>
            <a:off x="6547104" y="2648819"/>
            <a:ext cx="3888309" cy="1161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【1】clear GPU page table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【2】call </a:t>
            </a:r>
            <a:r>
              <a:rPr kumimoji="1" lang="en-US" altLang="zh-CN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vm_munmap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to release </a:t>
            </a:r>
            <a:r>
              <a:rPr kumimoji="1" lang="en-US" altLang="zh-CN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vma</a:t>
            </a: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entry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【3】release physical pages 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0BB031F-8BB2-104D-CE0E-64B3F0C5BE78}"/>
              </a:ext>
            </a:extLst>
          </p:cNvPr>
          <p:cNvCxnSpPr>
            <a:cxnSpLocks/>
          </p:cNvCxnSpPr>
          <p:nvPr/>
        </p:nvCxnSpPr>
        <p:spPr>
          <a:xfrm flipH="1" flipV="1">
            <a:off x="3419856" y="3758184"/>
            <a:ext cx="1399032" cy="64008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0D69AF4-AFCC-F85F-5762-74D9E4294937}"/>
              </a:ext>
            </a:extLst>
          </p:cNvPr>
          <p:cNvSpPr txBox="1"/>
          <p:nvPr/>
        </p:nvSpPr>
        <p:spPr>
          <a:xfrm>
            <a:off x="5010912" y="4398264"/>
            <a:ext cx="2105192" cy="792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???</a:t>
            </a:r>
          </a:p>
          <a:p>
            <a:pPr algn="l">
              <a:lnSpc>
                <a:spcPct val="150000"/>
              </a:lnSpc>
            </a:pP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gnore the return value</a:t>
            </a: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ED7AC9D2-5612-9FC9-F7C7-400ECB747A7C}"/>
              </a:ext>
            </a:extLst>
          </p:cNvPr>
          <p:cNvSpPr/>
          <p:nvPr/>
        </p:nvSpPr>
        <p:spPr>
          <a:xfrm>
            <a:off x="1325880" y="3174675"/>
            <a:ext cx="3035808" cy="482925"/>
          </a:xfrm>
          <a:prstGeom prst="frame">
            <a:avLst>
              <a:gd name="adj1" fmla="val 235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76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B85E2-0040-6B4B-A425-4BEA65644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BB694522-1F32-E7A9-D3E8-207F95CDA466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F1421C0C-5D9E-79C2-6DD8-6676BF574BAC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B89EE9-AC40-E45C-72E5-602452BCF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993392"/>
            <a:ext cx="7772400" cy="4697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061800-080A-D6A8-9F84-5632260215EA}"/>
              </a:ext>
            </a:extLst>
          </p:cNvPr>
          <p:cNvSpPr txBox="1"/>
          <p:nvPr/>
        </p:nvSpPr>
        <p:spPr>
          <a:xfrm>
            <a:off x="7918704" y="1993392"/>
            <a:ext cx="3273552" cy="1895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hvgr_mem_sameva_free</a:t>
            </a:r>
            <a:endParaRPr kumimoji="1"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&gt; </a:t>
            </a:r>
            <a:r>
              <a:rPr kumimoji="1" lang="en-US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hvgr_mem_free_va</a:t>
            </a:r>
            <a:endParaRPr kumimoji="1"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&gt; </a:t>
            </a:r>
            <a:r>
              <a:rPr kumimoji="1" lang="en-US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hvgr_mem_vm_munmap</a:t>
            </a:r>
            <a:endParaRPr kumimoji="1"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&gt; </a:t>
            </a:r>
            <a:r>
              <a:rPr kumimoji="1" lang="en-US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vm_munmap</a:t>
            </a:r>
            <a:endParaRPr kumimoji="1"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ignore the return value</a:t>
            </a:r>
            <a:endParaRPr kumimoji="1" lang="en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90FD3-9FA0-EB10-4106-9F26BD5895E6}"/>
              </a:ext>
            </a:extLst>
          </p:cNvPr>
          <p:cNvSpPr txBox="1"/>
          <p:nvPr/>
        </p:nvSpPr>
        <p:spPr>
          <a:xfrm>
            <a:off x="603504" y="1389888"/>
            <a:ext cx="2540119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GPU SAME_VA free function</a:t>
            </a:r>
          </a:p>
        </p:txBody>
      </p:sp>
    </p:spTree>
    <p:extLst>
      <p:ext uri="{BB962C8B-B14F-4D97-AF65-F5344CB8AC3E}">
        <p14:creationId xmlns:p14="http://schemas.microsoft.com/office/powerpoint/2010/main" val="863003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0ECE-60E9-C020-1F48-52378A2F7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B92DD974-D57D-7A88-3E62-2ECE8FB8A066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980B3664-927A-869D-1BEE-F0BF926EFBEF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BBCDBD-457A-5189-243B-59E74DFC8F85}"/>
              </a:ext>
            </a:extLst>
          </p:cNvPr>
          <p:cNvSpPr txBox="1"/>
          <p:nvPr/>
        </p:nvSpPr>
        <p:spPr>
          <a:xfrm>
            <a:off x="603504" y="1389888"/>
            <a:ext cx="3942682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What if the 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vm_munmap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addr,length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) failed?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A20B8-BEF3-E1A7-753E-1E6C2B7146D0}"/>
              </a:ext>
            </a:extLst>
          </p:cNvPr>
          <p:cNvSpPr txBox="1"/>
          <p:nvPr/>
        </p:nvSpPr>
        <p:spPr>
          <a:xfrm>
            <a:off x="868680" y="3588452"/>
            <a:ext cx="2801408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ase 1 invalid address or length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86BE9-A28C-4939-CD22-A53C9252A639}"/>
              </a:ext>
            </a:extLst>
          </p:cNvPr>
          <p:cNvSpPr txBox="1"/>
          <p:nvPr/>
        </p:nvSpPr>
        <p:spPr>
          <a:xfrm>
            <a:off x="868680" y="4104452"/>
            <a:ext cx="10158984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</a:t>
            </a:r>
            <a:r>
              <a:rPr kumimoji="1" lang="en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ase 2 trigger the a vma split event if the address range is misaligned, then goto fail</a:t>
            </a:r>
          </a:p>
          <a:p>
            <a:pPr>
              <a:lnSpc>
                <a:spcPct val="150000"/>
              </a:lnSpc>
            </a:pPr>
            <a:r>
              <a:rPr kumimoji="1" 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	total </a:t>
            </a:r>
            <a:r>
              <a:rPr kumimoji="1" lang="en-US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vma</a:t>
            </a:r>
            <a:r>
              <a:rPr kumimoji="1" 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count &gt; </a:t>
            </a:r>
            <a:r>
              <a:rPr lang="en-US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max_map_count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(/proc/sys/</a:t>
            </a:r>
            <a:r>
              <a:rPr lang="en-US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vm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max_map_count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zh-CN" alt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65535</a:t>
            </a:r>
            <a:endParaRPr kumimoji="1" lang="en-CN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</a:pPr>
            <a:r>
              <a:rPr kumimoji="1" lang="en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	</a:t>
            </a:r>
            <a:r>
              <a:rPr kumimoji="1" 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Conflict with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flag </a:t>
            </a:r>
            <a:r>
              <a:rPr lang="en-US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VM_DONTEXPAND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47CB2C-3B0D-6B84-9678-295981CE494A}"/>
              </a:ext>
            </a:extLst>
          </p:cNvPr>
          <p:cNvSpPr txBox="1"/>
          <p:nvPr/>
        </p:nvSpPr>
        <p:spPr>
          <a:xfrm>
            <a:off x="1051560" y="2029968"/>
            <a:ext cx="2979085" cy="792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CPU PTE entry is not clear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physical page have been freed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7359A-C5D9-3024-85BC-B6B7BDC5FD21}"/>
              </a:ext>
            </a:extLst>
          </p:cNvPr>
          <p:cNvSpPr txBox="1"/>
          <p:nvPr/>
        </p:nvSpPr>
        <p:spPr>
          <a:xfrm>
            <a:off x="5723296" y="2230265"/>
            <a:ext cx="1104533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PAGE UAF?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B97235-C134-132E-EFCF-A29D8E274BB9}"/>
              </a:ext>
            </a:extLst>
          </p:cNvPr>
          <p:cNvSpPr txBox="1"/>
          <p:nvPr/>
        </p:nvSpPr>
        <p:spPr>
          <a:xfrm>
            <a:off x="603504" y="3055011"/>
            <a:ext cx="4299062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How to make 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vm_munmap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addr,length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) failed???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C979892C-4566-CCC2-CA55-AFC437904550}"/>
              </a:ext>
            </a:extLst>
          </p:cNvPr>
          <p:cNvSpPr/>
          <p:nvPr/>
        </p:nvSpPr>
        <p:spPr>
          <a:xfrm>
            <a:off x="4819122" y="2254663"/>
            <a:ext cx="813158" cy="39373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898EA3-CE49-77F5-1301-E93544E5F12E}"/>
              </a:ext>
            </a:extLst>
          </p:cNvPr>
          <p:cNvSpPr txBox="1"/>
          <p:nvPr/>
        </p:nvSpPr>
        <p:spPr>
          <a:xfrm>
            <a:off x="603504" y="5540128"/>
            <a:ext cx="6967728" cy="78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But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the GPU memory address always is the range of the VMA. </a:t>
            </a:r>
          </a:p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Impossible to trigger 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vm_munmap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failed???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53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2521C-401B-EA26-29F6-729682583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BBA87774-F8E1-0D29-34E5-268A05E82D57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E39B7502-45DC-B555-CDFC-45B4E517FE46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FD33F-A540-E2BA-74A2-DB068BFA07EE}"/>
              </a:ext>
            </a:extLst>
          </p:cNvPr>
          <p:cNvSpPr txBox="1"/>
          <p:nvPr/>
        </p:nvSpPr>
        <p:spPr>
          <a:xfrm>
            <a:off x="484632" y="1371600"/>
            <a:ext cx="1494833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One more thing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594D058-7C42-6B37-F177-22665E76B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344393"/>
              </p:ext>
            </p:extLst>
          </p:nvPr>
        </p:nvGraphicFramePr>
        <p:xfrm>
          <a:off x="956253" y="1965089"/>
          <a:ext cx="4054659" cy="11125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04651">
                  <a:extLst>
                    <a:ext uri="{9D8B030D-6E8A-4147-A177-3AD203B41FA5}">
                      <a16:colId xmlns:a16="http://schemas.microsoft.com/office/drawing/2014/main" val="3126858818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781043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Kernel Mode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User Mode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843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CN" dirty="0"/>
                        <a:t>m_mmap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CN" dirty="0"/>
                        <a:t>map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108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CN" dirty="0"/>
                        <a:t>m_munmap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munmap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53408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E68B9A9-3C66-5E3B-D505-677C77FFCAFA}"/>
              </a:ext>
            </a:extLst>
          </p:cNvPr>
          <p:cNvSpPr txBox="1"/>
          <p:nvPr/>
        </p:nvSpPr>
        <p:spPr>
          <a:xfrm>
            <a:off x="523209" y="3362264"/>
            <a:ext cx="8735468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W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 can always use munmap</a:t>
            </a:r>
            <a:r>
              <a:rPr kumimoji="1" lang="zh-CN" alt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syscall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to release any memory segment, including the GPU memory blocks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A60D50-25A7-E388-7008-9D11C8A7D667}"/>
              </a:ext>
            </a:extLst>
          </p:cNvPr>
          <p:cNvSpPr txBox="1"/>
          <p:nvPr/>
        </p:nvSpPr>
        <p:spPr>
          <a:xfrm>
            <a:off x="606777" y="4184353"/>
            <a:ext cx="4051750" cy="11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alloc GPU Memory using ioctl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elease memory vma entry using munmap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release GPU memory using ioctl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AE0600-A682-0199-69C6-F4A3D97C3665}"/>
              </a:ext>
            </a:extLst>
          </p:cNvPr>
          <p:cNvSpPr txBox="1"/>
          <p:nvPr/>
        </p:nvSpPr>
        <p:spPr>
          <a:xfrm>
            <a:off x="6537960" y="4937760"/>
            <a:ext cx="3097515" cy="11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vm_munmap does return false!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ut CPU PTE entry is cleared 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sym typeface="Wingdings" pitchFamily="2" charset="2"/>
              </a:rPr>
              <a:t>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N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 more page UAF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A815A0-6494-9CC6-534B-60DB33E8AA02}"/>
              </a:ext>
            </a:extLst>
          </p:cNvPr>
          <p:cNvCxnSpPr/>
          <p:nvPr/>
        </p:nvCxnSpPr>
        <p:spPr>
          <a:xfrm>
            <a:off x="4325112" y="5184648"/>
            <a:ext cx="2112264" cy="32918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210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FEFCB-0ABB-2D86-D76F-FDCFC31EB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3BBD6B42-8CE8-E794-5AC5-786CC61C4F2E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4863432B-CBD7-A4B1-3249-34A29E0A16EA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AF74A7-6843-C7CF-5376-548AA9C9D403}"/>
              </a:ext>
            </a:extLst>
          </p:cNvPr>
          <p:cNvSpPr txBox="1"/>
          <p:nvPr/>
        </p:nvSpPr>
        <p:spPr>
          <a:xfrm>
            <a:off x="484632" y="1371600"/>
            <a:ext cx="2684325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Rewrite CPU Page Table Entry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18AE3-AF8B-8EE5-00E7-C76AF9B57042}"/>
              </a:ext>
            </a:extLst>
          </p:cNvPr>
          <p:cNvSpPr txBox="1"/>
          <p:nvPr/>
        </p:nvSpPr>
        <p:spPr>
          <a:xfrm>
            <a:off x="566928" y="2383564"/>
            <a:ext cx="11484864" cy="232102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4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hvgr_ioctl_para_alloc_memory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sz="14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kumimoji="1" lang="en-US" sz="14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args_alloc.in.pages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1;                                               // </a:t>
            </a:r>
            <a:r>
              <a:rPr kumimoji="1" lang="en-US" sz="14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GPU real physical pages</a:t>
            </a:r>
          </a:p>
          <a:p>
            <a:pPr algn="l">
              <a:lnSpc>
                <a:spcPct val="150000"/>
              </a:lnSpc>
            </a:pPr>
            <a:r>
              <a:rPr kumimoji="1" lang="en-US" sz="14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args_alloc.in.max_pages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2;                                    // </a:t>
            </a:r>
            <a:r>
              <a:rPr kumimoji="1" lang="en-US" sz="14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GPU virtual memory size</a:t>
            </a:r>
          </a:p>
          <a:p>
            <a:pPr algn="l">
              <a:lnSpc>
                <a:spcPct val="150000"/>
              </a:lnSpc>
            </a:pPr>
            <a:r>
              <a:rPr kumimoji="1" lang="en-US" sz="14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args_alloc.in.attribute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HVGR_MEM_ATTR_GPU_RD | HVGR_MEM_ATTR_GPU_WR | HVGR_MEM_ATTR_GROWABLE | HVGR_MEM_MASK_UMD_ACCESS;</a:t>
            </a:r>
          </a:p>
          <a:p>
            <a:pPr algn="l">
              <a:lnSpc>
                <a:spcPct val="150000"/>
              </a:lnSpc>
            </a:pPr>
            <a:r>
              <a:rPr kumimoji="1" lang="en-US" sz="14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args_alloc.in.va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0;</a:t>
            </a:r>
          </a:p>
          <a:p>
            <a:pPr algn="l">
              <a:lnSpc>
                <a:spcPct val="150000"/>
              </a:lnSpc>
            </a:pPr>
            <a:r>
              <a:rPr kumimoji="1" lang="en-US" sz="14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args_alloc.in.property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= HVGR_MEM_PROPERTY_SAME_VA;</a:t>
            </a:r>
          </a:p>
          <a:p>
            <a:pPr algn="l">
              <a:lnSpc>
                <a:spcPct val="150000"/>
              </a:lnSpc>
            </a:pP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ret = </a:t>
            </a:r>
            <a:r>
              <a:rPr kumimoji="1" lang="en-US" sz="14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ioctl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kumimoji="1" lang="en-US" sz="14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gfd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, HVGR_MEM_ALLOC, &amp;</a:t>
            </a:r>
            <a:r>
              <a:rPr kumimoji="1" lang="en-US" sz="14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args_alloc</a:t>
            </a:r>
            <a:r>
              <a:rPr kumimoji="1" lang="en-US" sz="14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);</a:t>
            </a:r>
            <a:endParaRPr lang="en-C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AC8FF-2B89-5127-EDD8-3F1C04F64413}"/>
              </a:ext>
            </a:extLst>
          </p:cNvPr>
          <p:cNvSpPr txBox="1"/>
          <p:nvPr/>
        </p:nvSpPr>
        <p:spPr>
          <a:xfrm>
            <a:off x="566928" y="1877582"/>
            <a:ext cx="2886944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lloc new GPU memory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9E9D6-0F8E-F859-24F7-F434ECCC0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33" y="4704584"/>
            <a:ext cx="5158267" cy="21511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CC08A-2FEF-6C34-F2FE-430DA25F931E}"/>
              </a:ext>
            </a:extLst>
          </p:cNvPr>
          <p:cNvSpPr txBox="1"/>
          <p:nvPr/>
        </p:nvSpPr>
        <p:spPr>
          <a:xfrm>
            <a:off x="6096000" y="5333049"/>
            <a:ext cx="2505751" cy="792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rgs_alloc.in.pages = 1</a:t>
            </a:r>
          </a:p>
          <a:p>
            <a:pPr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rgs_alloc.in.max_pages = 2</a:t>
            </a:r>
          </a:p>
        </p:txBody>
      </p:sp>
    </p:spTree>
    <p:extLst>
      <p:ext uri="{BB962C8B-B14F-4D97-AF65-F5344CB8AC3E}">
        <p14:creationId xmlns:p14="http://schemas.microsoft.com/office/powerpoint/2010/main" val="968248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FEF66-B1DA-52D4-1247-6049D0A5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7B150B37-B16D-694F-237E-38888AD2FBAA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EAFFD8FF-DF02-3193-01B7-575867860B13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7D3A4-452D-86B2-0F4C-ADD20B88C55A}"/>
              </a:ext>
            </a:extLst>
          </p:cNvPr>
          <p:cNvSpPr txBox="1"/>
          <p:nvPr/>
        </p:nvSpPr>
        <p:spPr>
          <a:xfrm>
            <a:off x="484632" y="1371600"/>
            <a:ext cx="2684325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Rewrite CPU Page Table Entry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1BCD2-B6C0-4E14-F5A4-A65E432B2F1D}"/>
              </a:ext>
            </a:extLst>
          </p:cNvPr>
          <p:cNvSpPr txBox="1"/>
          <p:nvPr/>
        </p:nvSpPr>
        <p:spPr>
          <a:xfrm>
            <a:off x="566928" y="1877582"/>
            <a:ext cx="1405256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resize function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A5384-B6E4-8272-99F9-13B70A856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12" y="2383564"/>
            <a:ext cx="7772400" cy="16713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F9CDFA-91CE-1D77-B883-76F4746F7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12" y="4451311"/>
            <a:ext cx="5479905" cy="2071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F5073E-A83E-80F8-6729-6291FD4DEB37}"/>
              </a:ext>
            </a:extLst>
          </p:cNvPr>
          <p:cNvSpPr txBox="1"/>
          <p:nvPr/>
        </p:nvSpPr>
        <p:spPr>
          <a:xfrm>
            <a:off x="6400800" y="4820882"/>
            <a:ext cx="3564694" cy="11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1. a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lloc new physical memory</a:t>
            </a:r>
          </a:p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2.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setup 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GPU PTE</a:t>
            </a:r>
          </a:p>
          <a:p>
            <a:pPr algn="l">
              <a:lnSpc>
                <a:spcPct val="150000"/>
              </a:lnSpc>
            </a:pPr>
            <a:r>
              <a:rPr kumimoji="1" lang="en-CN" sz="1600" dirty="0">
                <a:highlight>
                  <a:srgbClr val="FFFF00"/>
                </a:highlight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3. setup CPU PTE if mapped in userspace</a:t>
            </a:r>
          </a:p>
        </p:txBody>
      </p:sp>
    </p:spTree>
    <p:extLst>
      <p:ext uri="{BB962C8B-B14F-4D97-AF65-F5344CB8AC3E}">
        <p14:creationId xmlns:p14="http://schemas.microsoft.com/office/powerpoint/2010/main" val="1068611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406DF-3784-2BAD-3EEA-BD4E42F3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5781385C-EB09-263F-BE22-1912946EF744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4069E164-B64D-7C59-BBF8-39C1BF80A434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B867EB-3FF0-323F-0024-BA17EB1FE3C3}"/>
              </a:ext>
            </a:extLst>
          </p:cNvPr>
          <p:cNvSpPr txBox="1"/>
          <p:nvPr/>
        </p:nvSpPr>
        <p:spPr>
          <a:xfrm>
            <a:off x="484632" y="1371600"/>
            <a:ext cx="1635384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Put it all together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07ABF5-A56A-31BA-74FE-7F018D7471AE}"/>
              </a:ext>
            </a:extLst>
          </p:cNvPr>
          <p:cNvSpPr txBox="1"/>
          <p:nvPr/>
        </p:nvSpPr>
        <p:spPr>
          <a:xfrm>
            <a:off x="725649" y="2108665"/>
            <a:ext cx="3027817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alloc GPU Memory using ioctl </a:t>
            </a:r>
            <a:endParaRPr kumimoji="1" lang="en-CN" sz="1600" b="1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40717E-6797-D2E8-77F0-4BDFC3A59E80}"/>
              </a:ext>
            </a:extLst>
          </p:cNvPr>
          <p:cNvSpPr txBox="1"/>
          <p:nvPr/>
        </p:nvSpPr>
        <p:spPr>
          <a:xfrm>
            <a:off x="1314450" y="2607588"/>
            <a:ext cx="6896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sz="1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</a:t>
            </a:r>
            <a:r>
              <a:rPr kumimoji="1" lang="en-CN" sz="1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rgs_alloc.in.pages = 0</a:t>
            </a:r>
            <a:endParaRPr kumimoji="1" lang="en-CN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r>
              <a:rPr kumimoji="1" lang="en-US" sz="1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</a:t>
            </a:r>
            <a:r>
              <a:rPr kumimoji="1" lang="en-CN" sz="18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rgs_alloc.in.max_pages = 1</a:t>
            </a:r>
            <a:endParaRPr lang="en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0B9F83-FD06-8FB8-79EC-E26AD03F2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110" y="3373382"/>
            <a:ext cx="69088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88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A0FD6-99B5-5FB7-8996-F2E969D3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6C98B5CF-1C4C-AC21-F7AA-552147E230BF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49300CD7-05E0-E0F4-B6B2-32E3CB1FE485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7E239E-6439-7A9F-D40D-30F45DF98A9A}"/>
              </a:ext>
            </a:extLst>
          </p:cNvPr>
          <p:cNvSpPr txBox="1"/>
          <p:nvPr/>
        </p:nvSpPr>
        <p:spPr>
          <a:xfrm>
            <a:off x="484632" y="1371600"/>
            <a:ext cx="1635384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Put it all together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DBAD6-358F-F2D9-F767-EDC3CF726515}"/>
              </a:ext>
            </a:extLst>
          </p:cNvPr>
          <p:cNvSpPr txBox="1"/>
          <p:nvPr/>
        </p:nvSpPr>
        <p:spPr>
          <a:xfrm>
            <a:off x="725649" y="2108665"/>
            <a:ext cx="7451527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2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.  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m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unmap CPU VA, mmap a new larger memory segment, covering the GPU VA range</a:t>
            </a:r>
            <a:endParaRPr kumimoji="1" lang="en-CN" sz="1600" b="1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7E63A-993B-CE1D-3BEC-2D4B08A81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058" y="2768767"/>
            <a:ext cx="7772400" cy="375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4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76C95-135D-77BB-9EAE-A71C364EB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2EBC36DE-C632-4940-5DBC-1B49A28ABFDD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4C2BB55-4C2C-3177-A6B5-B232A8E026B3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D5EC9-D1DD-2D19-1B24-189F4EEA7BB7}"/>
              </a:ext>
            </a:extLst>
          </p:cNvPr>
          <p:cNvSpPr txBox="1"/>
          <p:nvPr/>
        </p:nvSpPr>
        <p:spPr>
          <a:xfrm>
            <a:off x="484632" y="1371600"/>
            <a:ext cx="1635384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Put it all together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7CA2A-EFB5-13DB-186C-BA6CD8D4070B}"/>
              </a:ext>
            </a:extLst>
          </p:cNvPr>
          <p:cNvSpPr txBox="1"/>
          <p:nvPr/>
        </p:nvSpPr>
        <p:spPr>
          <a:xfrm>
            <a:off x="725649" y="2108665"/>
            <a:ext cx="4691221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3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.  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call resize function for 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allocing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a new physical page</a:t>
            </a:r>
            <a:endParaRPr kumimoji="1" lang="en-CN" sz="1600" b="1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F227A6-90E2-F452-0402-F723EC04567A}"/>
              </a:ext>
            </a:extLst>
          </p:cNvPr>
          <p:cNvSpPr txBox="1"/>
          <p:nvPr/>
        </p:nvSpPr>
        <p:spPr>
          <a:xfrm>
            <a:off x="1353312" y="2526856"/>
            <a:ext cx="3055452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GPU PTE and CPU PTE will be filled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D9814B-BBB6-F114-CFBD-819CD5010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277" y="2950370"/>
            <a:ext cx="67183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08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6EC3D-B5F7-EEEE-81BD-FDC18C6F8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FBE9FD6C-5720-82DF-693F-E5D64DADA2FF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BBBC10EF-2708-24A7-3245-06407BA3F73F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A4979B-A5D6-5806-5B83-C1CE69AF86F6}"/>
              </a:ext>
            </a:extLst>
          </p:cNvPr>
          <p:cNvSpPr txBox="1"/>
          <p:nvPr/>
        </p:nvSpPr>
        <p:spPr>
          <a:xfrm>
            <a:off x="484632" y="1371600"/>
            <a:ext cx="1635384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Put it all together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88AD8-33E0-A990-2040-BE18AED3B880}"/>
              </a:ext>
            </a:extLst>
          </p:cNvPr>
          <p:cNvSpPr txBox="1"/>
          <p:nvPr/>
        </p:nvSpPr>
        <p:spPr>
          <a:xfrm>
            <a:off x="725649" y="2108665"/>
            <a:ext cx="6305829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4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.  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free the GPU memory block, trigger 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vm_munmap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addr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, 0x1000) failed</a:t>
            </a:r>
            <a:endParaRPr kumimoji="1" lang="en-CN" sz="1600" b="1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23BB8A-D237-8915-F0DE-F1FDA905EFFB}"/>
              </a:ext>
            </a:extLst>
          </p:cNvPr>
          <p:cNvGrpSpPr/>
          <p:nvPr/>
        </p:nvGrpSpPr>
        <p:grpSpPr>
          <a:xfrm>
            <a:off x="7066124" y="3228716"/>
            <a:ext cx="4071268" cy="1993900"/>
            <a:chOff x="6910676" y="2670932"/>
            <a:chExt cx="4071268" cy="19939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06103AD-7D1B-F337-047D-1C0BF35C7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9515"/>
            <a:stretch/>
          </p:blipFill>
          <p:spPr>
            <a:xfrm>
              <a:off x="6910676" y="2670932"/>
              <a:ext cx="4071268" cy="19939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8E70D0D-2BD6-CDDF-8468-09BF0181FA5F}"/>
                </a:ext>
              </a:extLst>
            </p:cNvPr>
            <p:cNvSpPr txBox="1"/>
            <p:nvPr/>
          </p:nvSpPr>
          <p:spPr>
            <a:xfrm>
              <a:off x="7358806" y="3364992"/>
              <a:ext cx="534121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sz="1400" dirty="0">
                  <a:solidFill>
                    <a:schemeClr val="accent6"/>
                  </a:solidFill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t</a:t>
              </a:r>
              <a:r>
                <a:rPr kumimoji="1" lang="en-CN" sz="1400" dirty="0">
                  <a:solidFill>
                    <a:schemeClr val="accent6"/>
                  </a:solidFill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rue</a:t>
              </a:r>
            </a:p>
            <a:p>
              <a:pPr algn="l"/>
              <a:r>
                <a:rPr kumimoji="1" lang="en-US" sz="1400" b="1" dirty="0">
                  <a:solidFill>
                    <a:srgbClr val="FF0000"/>
                  </a:solidFill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f</a:t>
              </a:r>
              <a:r>
                <a:rPr kumimoji="1" lang="en-CN" sz="1400" b="1" dirty="0">
                  <a:solidFill>
                    <a:srgbClr val="FF0000"/>
                  </a:solidFill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alse</a:t>
              </a:r>
            </a:p>
            <a:p>
              <a:pPr algn="l"/>
              <a:r>
                <a:rPr kumimoji="1" lang="en-CN" sz="1400" dirty="0">
                  <a:solidFill>
                    <a:schemeClr val="accent6"/>
                  </a:solidFill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</a:rPr>
                <a:t>true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F482DFF-A64A-5A18-5C57-23F76DBCC722}"/>
              </a:ext>
            </a:extLst>
          </p:cNvPr>
          <p:cNvSpPr txBox="1"/>
          <p:nvPr/>
        </p:nvSpPr>
        <p:spPr>
          <a:xfrm>
            <a:off x="7971380" y="5681298"/>
            <a:ext cx="1226233" cy="418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PAGE UAF!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93C1A-4D6A-CD58-E381-5182B0C1B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89" y="2719831"/>
            <a:ext cx="65659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58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EAD35-74A9-9DA9-3B63-94DB016AE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FEC4802C-944D-DF17-6920-550CE777E051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ABC06FEE-1763-C01F-C68F-4566918A63AB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14A3C0-8D08-AD38-0231-46CC004B70EE}"/>
              </a:ext>
            </a:extLst>
          </p:cNvPr>
          <p:cNvSpPr txBox="1"/>
          <p:nvPr/>
        </p:nvSpPr>
        <p:spPr>
          <a:xfrm>
            <a:off x="484632" y="1371600"/>
            <a:ext cx="1635384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Put it all together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286B0-4E73-F2B7-1C1D-0635B7189384}"/>
              </a:ext>
            </a:extLst>
          </p:cNvPr>
          <p:cNvSpPr txBox="1"/>
          <p:nvPr/>
        </p:nvSpPr>
        <p:spPr>
          <a:xfrm>
            <a:off x="725649" y="2108665"/>
            <a:ext cx="2345386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5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.  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make it fast and stable</a:t>
            </a:r>
            <a:endParaRPr kumimoji="1" lang="en-CN" sz="1600" b="1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BB78A-F63C-16CE-18B3-9D50389718FD}"/>
              </a:ext>
            </a:extLst>
          </p:cNvPr>
          <p:cNvSpPr txBox="1"/>
          <p:nvPr/>
        </p:nvSpPr>
        <p:spPr>
          <a:xfrm>
            <a:off x="7911710" y="3300984"/>
            <a:ext cx="3902338" cy="153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spray CPU PTE page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ead and write 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arbitrary PA using KSMA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search kernel text from 0x10000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Rewrite system RO file page cache 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AE0E83-2ADC-5155-9631-5E0DCCDBA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10" y="2992382"/>
            <a:ext cx="70104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43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098B-79AB-E1A9-54CE-30FAAF33F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C6EFA92E-946A-F881-8007-A757CE6B0147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E65F8F84-9B42-B4A8-1529-AFC0528993CF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Bug hunting and exploitation of Huawei Kirin SoC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8ACB5-26AD-0E28-F986-E63F8DCBC9B0}"/>
              </a:ext>
            </a:extLst>
          </p:cNvPr>
          <p:cNvSpPr txBox="1"/>
          <p:nvPr/>
        </p:nvSpPr>
        <p:spPr>
          <a:xfrm>
            <a:off x="457200" y="1389888"/>
            <a:ext cx="1628331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What can we do?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B84950-5E53-6045-BA1F-D23330625D16}"/>
              </a:ext>
            </a:extLst>
          </p:cNvPr>
          <p:cNvSpPr txBox="1"/>
          <p:nvPr/>
        </p:nvSpPr>
        <p:spPr>
          <a:xfrm>
            <a:off x="765048" y="2021201"/>
            <a:ext cx="5763768" cy="792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Rewrite “run-as” binary, switching to other users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Inject shellcode to privileged 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6FA4D-375E-3B81-CF04-BC37258A33B5}"/>
              </a:ext>
            </a:extLst>
          </p:cNvPr>
          <p:cNvSpPr txBox="1"/>
          <p:nvPr/>
        </p:nvSpPr>
        <p:spPr>
          <a:xfrm>
            <a:off x="457200" y="3219936"/>
            <a:ext cx="527709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5DEAB1-BF22-0774-5B68-85018A8026C8}"/>
              </a:ext>
            </a:extLst>
          </p:cNvPr>
          <p:cNvSpPr txBox="1"/>
          <p:nvPr/>
        </p:nvSpPr>
        <p:spPr>
          <a:xfrm>
            <a:off x="784706" y="3763046"/>
            <a:ext cx="5405781" cy="1162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HKIP still works!!!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W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 can’t disable SeLinux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Patching the kernel text code will crash the system</a:t>
            </a:r>
          </a:p>
        </p:txBody>
      </p:sp>
    </p:spTree>
    <p:extLst>
      <p:ext uri="{BB962C8B-B14F-4D97-AF65-F5344CB8AC3E}">
        <p14:creationId xmlns:p14="http://schemas.microsoft.com/office/powerpoint/2010/main" val="3422347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880A5-056C-AF2A-56A4-EC0A2773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te60pro">
            <a:hlinkClick r:id="" action="ppaction://media"/>
            <a:extLst>
              <a:ext uri="{FF2B5EF4-FFF2-40B4-BE49-F238E27FC236}">
                <a16:creationId xmlns:a16="http://schemas.microsoft.com/office/drawing/2014/main" id="{C81937DF-1271-1415-FE64-680CAF122B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15184" y="378296"/>
            <a:ext cx="2802128" cy="61014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267D15-913D-8B8F-63C2-1AB8FB617A5C}"/>
              </a:ext>
            </a:extLst>
          </p:cNvPr>
          <p:cNvSpPr txBox="1"/>
          <p:nvPr/>
        </p:nvSpPr>
        <p:spPr>
          <a:xfrm>
            <a:off x="557784" y="169232"/>
            <a:ext cx="1394934" cy="418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DEMO show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4CEFD4-A92D-9780-F619-F6B43F256120}"/>
              </a:ext>
            </a:extLst>
          </p:cNvPr>
          <p:cNvSpPr txBox="1"/>
          <p:nvPr/>
        </p:nvSpPr>
        <p:spPr>
          <a:xfrm>
            <a:off x="6254496" y="1700784"/>
            <a:ext cx="3047116" cy="787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Huawei Mate60 Pro</a:t>
            </a:r>
          </a:p>
          <a:p>
            <a:pPr algn="l">
              <a:lnSpc>
                <a:spcPct val="150000"/>
              </a:lnSpc>
            </a:pPr>
            <a:r>
              <a:rPr kumimoji="1" lang="en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Security Patch Date 2024/4/1</a:t>
            </a:r>
          </a:p>
        </p:txBody>
      </p:sp>
    </p:spTree>
    <p:extLst>
      <p:ext uri="{BB962C8B-B14F-4D97-AF65-F5344CB8AC3E}">
        <p14:creationId xmlns:p14="http://schemas.microsoft.com/office/powerpoint/2010/main" val="1857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28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7CFEB-1D8B-DF3D-C635-E72E181E1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1FBD2EF1-D089-41CC-AE19-C66BC3DB4A7B}"/>
              </a:ext>
            </a:extLst>
          </p:cNvPr>
          <p:cNvCxnSpPr/>
          <p:nvPr/>
        </p:nvCxnSpPr>
        <p:spPr>
          <a:xfrm>
            <a:off x="1" y="9676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93334A2D-70FA-59DF-9ACC-C78479B60F8E}"/>
              </a:ext>
            </a:extLst>
          </p:cNvPr>
          <p:cNvSpPr txBox="1">
            <a:spLocks/>
          </p:cNvSpPr>
          <p:nvPr/>
        </p:nvSpPr>
        <p:spPr>
          <a:xfrm>
            <a:off x="54570" y="335018"/>
            <a:ext cx="7213738" cy="47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86" b="1" kern="1200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How Huawei fixed 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641601-BB31-D294-2A0E-0FBC4576B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6" y="1750427"/>
            <a:ext cx="7772400" cy="4043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B2F2F2-0FD4-74C3-F951-B05EFC7381BD}"/>
              </a:ext>
            </a:extLst>
          </p:cNvPr>
          <p:cNvSpPr txBox="1"/>
          <p:nvPr/>
        </p:nvSpPr>
        <p:spPr>
          <a:xfrm>
            <a:off x="8281416" y="3657599"/>
            <a:ext cx="3825240" cy="1162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munmap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still works</a:t>
            </a:r>
          </a:p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W</a:t>
            </a: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 can</a:t>
            </a: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not rewrite CPU PTE after </a:t>
            </a:r>
            <a:r>
              <a:rPr kumimoji="1" lang="en-US" sz="1600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munmap</a:t>
            </a:r>
            <a:endParaRPr kumimoji="1" lang="en-US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</a:pPr>
            <a:r>
              <a:rPr kumimoji="1" lang="en-US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No More Page UAF</a:t>
            </a:r>
            <a:endParaRPr kumimoji="1" lang="en-CN" sz="16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A6237-04BD-3B50-D716-2ECDFFD4569F}"/>
              </a:ext>
            </a:extLst>
          </p:cNvPr>
          <p:cNvSpPr txBox="1"/>
          <p:nvPr/>
        </p:nvSpPr>
        <p:spPr>
          <a:xfrm>
            <a:off x="2103827" y="5793523"/>
            <a:ext cx="4146841" cy="423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CN" sz="16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Disable resize function for CPU shared memory </a:t>
            </a:r>
          </a:p>
        </p:txBody>
      </p:sp>
    </p:spTree>
    <p:extLst>
      <p:ext uri="{BB962C8B-B14F-4D97-AF65-F5344CB8AC3E}">
        <p14:creationId xmlns:p14="http://schemas.microsoft.com/office/powerpoint/2010/main" val="23194351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E58D91D-4B59-EF5D-03DB-9033B9CABE66}"/>
              </a:ext>
            </a:extLst>
          </p:cNvPr>
          <p:cNvSpPr txBox="1"/>
          <p:nvPr/>
        </p:nvSpPr>
        <p:spPr>
          <a:xfrm>
            <a:off x="5574062" y="3097755"/>
            <a:ext cx="1043876" cy="6624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Q&amp;A</a:t>
            </a:r>
            <a:endParaRPr kumimoji="1" lang="zh-CN" alt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6077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kumimoji="1" sz="16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45633</TotalTime>
  <Words>1921</Words>
  <Application>Microsoft Macintosh PowerPoint</Application>
  <PresentationFormat>Widescreen</PresentationFormat>
  <Paragraphs>303</Paragraphs>
  <Slides>33</Slides>
  <Notes>33</Notes>
  <HiddenSlides>0</HiddenSlides>
  <MMClips>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-apple-system</vt:lpstr>
      <vt:lpstr>Google Sans</vt:lpstr>
      <vt:lpstr>Microsoft YaHei</vt:lpstr>
      <vt:lpstr>Microsoft YaHei</vt:lpstr>
      <vt:lpstr>Arial</vt:lpstr>
      <vt:lpstr>Calibri</vt:lpstr>
      <vt:lpstr>Calibri Light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 Hz</cp:lastModifiedBy>
  <cp:revision>325</cp:revision>
  <dcterms:created xsi:type="dcterms:W3CDTF">2021-07-13T06:10:36Z</dcterms:created>
  <dcterms:modified xsi:type="dcterms:W3CDTF">2025-05-08T16:51:47Z</dcterms:modified>
</cp:coreProperties>
</file>